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6a2ffee90fb428c" /><Relationship Type="http://schemas.openxmlformats.org/officeDocument/2006/relationships/extended-properties" Target="/docProps/app.xml" Id="R9b3f33f1c92a4f0a" /><Relationship Type="http://schemas.openxmlformats.org/officeDocument/2006/relationships/officeDocument" Target="/ppt/presentation.xml" Id="R050ae38df3f8468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835f812a7ba4d1c"/>
  </p:sldMasterIdLst>
  <p:notesMasterIdLst>
    <p:notesMasterId xmlns:r="http://schemas.openxmlformats.org/officeDocument/2006/relationships" r:id="R5f074dc3a1d54045"/>
  </p:notesMasterIdLst>
  <p:sldIdLst>
    <p:sldId xmlns:r="http://schemas.openxmlformats.org/officeDocument/2006/relationships" id="256" r:id="R52f1d31e1750471a"/>
    <p:sldId xmlns:r="http://schemas.openxmlformats.org/officeDocument/2006/relationships" id="257" r:id="Rd0d29ecf22e04be5"/>
    <p:sldId xmlns:r="http://schemas.openxmlformats.org/officeDocument/2006/relationships" id="258" r:id="Rbe3f2c8e91c74a68"/>
    <p:sldId xmlns:r="http://schemas.openxmlformats.org/officeDocument/2006/relationships" id="259" r:id="R83df77ce0013419f"/>
    <p:sldId xmlns:r="http://schemas.openxmlformats.org/officeDocument/2006/relationships" id="260" r:id="R06c4c9d8638c415e"/>
    <p:sldId xmlns:r="http://schemas.openxmlformats.org/officeDocument/2006/relationships" id="261" r:id="R5cbc5aac8b0147a5"/>
    <p:sldId xmlns:r="http://schemas.openxmlformats.org/officeDocument/2006/relationships" id="262" r:id="Rd35e34544f964e7a"/>
    <p:sldId xmlns:r="http://schemas.openxmlformats.org/officeDocument/2006/relationships" id="263" r:id="R37ce49e35f38431f"/>
    <p:sldId xmlns:r="http://schemas.openxmlformats.org/officeDocument/2006/relationships" id="264" r:id="R0f031918cb114b64"/>
    <p:sldId xmlns:r="http://schemas.openxmlformats.org/officeDocument/2006/relationships" id="265" r:id="R1f598bc0aa9b426b"/>
    <p:sldId xmlns:r="http://schemas.openxmlformats.org/officeDocument/2006/relationships" id="266" r:id="R1f2f17ca884b40ca"/>
    <p:sldId xmlns:r="http://schemas.openxmlformats.org/officeDocument/2006/relationships" id="267" r:id="R0458fd773dd8441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35f812a7ba4d1c" /><Relationship Type="http://schemas.openxmlformats.org/officeDocument/2006/relationships/theme" Target="/ppt/theme/theme1.xml" Id="R701f6435dd314b90" /><Relationship Type="http://schemas.openxmlformats.org/officeDocument/2006/relationships/notesMaster" Target="/ppt/notesMasters/notesMaster1.xml" Id="R5f074dc3a1d54045" /><Relationship Type="http://schemas.openxmlformats.org/officeDocument/2006/relationships/presProps" Target="/ppt/presProps.xml" Id="Rbaaa361b022641bd" /><Relationship Type="http://schemas.openxmlformats.org/officeDocument/2006/relationships/viewProps" Target="/ppt/viewProps.xml" Id="Ra26330814b92455f" /><Relationship Type="http://schemas.openxmlformats.org/officeDocument/2006/relationships/tableStyles" Target="/ppt/tableStyles.xml" Id="R48524343e6bc4efd" /><Relationship Type="http://schemas.openxmlformats.org/officeDocument/2006/relationships/slide" Target="/ppt/slides/slide1.xml" Id="R52f1d31e1750471a" /><Relationship Type="http://schemas.openxmlformats.org/officeDocument/2006/relationships/slide" Target="/ppt/slides/slide2.xml" Id="Rd0d29ecf22e04be5" /><Relationship Type="http://schemas.openxmlformats.org/officeDocument/2006/relationships/slide" Target="/ppt/slides/slide3.xml" Id="Rbe3f2c8e91c74a68" /><Relationship Type="http://schemas.openxmlformats.org/officeDocument/2006/relationships/slide" Target="/ppt/slides/slide4.xml" Id="R83df77ce0013419f" /><Relationship Type="http://schemas.openxmlformats.org/officeDocument/2006/relationships/slide" Target="/ppt/slides/slide5.xml" Id="R06c4c9d8638c415e" /><Relationship Type="http://schemas.openxmlformats.org/officeDocument/2006/relationships/slide" Target="/ppt/slides/slide6.xml" Id="R5cbc5aac8b0147a5" /><Relationship Type="http://schemas.openxmlformats.org/officeDocument/2006/relationships/slide" Target="/ppt/slides/slide7.xml" Id="Rd35e34544f964e7a" /><Relationship Type="http://schemas.openxmlformats.org/officeDocument/2006/relationships/slide" Target="/ppt/slides/slide8.xml" Id="R37ce49e35f38431f" /><Relationship Type="http://schemas.openxmlformats.org/officeDocument/2006/relationships/slide" Target="/ppt/slides/slide9.xml" Id="R0f031918cb114b64" /><Relationship Type="http://schemas.openxmlformats.org/officeDocument/2006/relationships/slide" Target="/ppt/slides/slide10.xml" Id="R1f598bc0aa9b426b" /><Relationship Type="http://schemas.openxmlformats.org/officeDocument/2006/relationships/slide" Target="/ppt/slides/slide11.xml" Id="R1f2f17ca884b40ca" /><Relationship Type="http://schemas.openxmlformats.org/officeDocument/2006/relationships/slide" Target="/ppt/slides/slide12.xml" Id="R0458fd773dd8441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a04817d11a2f4d2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73e12634cf84bdc" /><Relationship Type="http://schemas.openxmlformats.org/officeDocument/2006/relationships/notesMaster" Target="/ppt/notesMasters/notesMaster1.xml" Id="R5b70e3d0dda9475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aafcc55d1834b7c" /><Relationship Type="http://schemas.openxmlformats.org/officeDocument/2006/relationships/notesMaster" Target="/ppt/notesMasters/notesMaster1.xml" Id="R6262b35d7126464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1e6d304739f40e6" /><Relationship Type="http://schemas.openxmlformats.org/officeDocument/2006/relationships/notesMaster" Target="/ppt/notesMasters/notesMaster1.xml" Id="R1dca3c2648ec4a8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e3290f070bd44f0" /><Relationship Type="http://schemas.openxmlformats.org/officeDocument/2006/relationships/notesMaster" Target="/ppt/notesMasters/notesMaster1.xml" Id="R874cae28ca7d446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eda0b08f50f46cd" /><Relationship Type="http://schemas.openxmlformats.org/officeDocument/2006/relationships/notesMaster" Target="/ppt/notesMasters/notesMaster1.xml" Id="Ree58e3f96cde4f4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214380d3edb4ef7" /><Relationship Type="http://schemas.openxmlformats.org/officeDocument/2006/relationships/notesMaster" Target="/ppt/notesMasters/notesMaster1.xml" Id="Rad00f9c95b494fb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4d9896e32994bff" /><Relationship Type="http://schemas.openxmlformats.org/officeDocument/2006/relationships/notesMaster" Target="/ppt/notesMasters/notesMaster1.xml" Id="Rcf8ec5b20d4642e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ca1f49c340f48a7" /><Relationship Type="http://schemas.openxmlformats.org/officeDocument/2006/relationships/notesMaster" Target="/ppt/notesMasters/notesMaster1.xml" Id="Rb3d58a4481b640f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da50df413ec489c" /><Relationship Type="http://schemas.openxmlformats.org/officeDocument/2006/relationships/notesMaster" Target="/ppt/notesMasters/notesMaster1.xml" Id="R2ed2488ab9334df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11775fd9871423b" /><Relationship Type="http://schemas.openxmlformats.org/officeDocument/2006/relationships/notesMaster" Target="/ppt/notesMasters/notesMaster1.xml" Id="Reec03416148040b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cc67bc28df84ca7" /><Relationship Type="http://schemas.openxmlformats.org/officeDocument/2006/relationships/notesMaster" Target="/ppt/notesMasters/notesMaster1.xml" Id="Rafbd87adf4a04bd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a845304c8ca460e" /><Relationship Type="http://schemas.openxmlformats.org/officeDocument/2006/relationships/notesMaster" Target="/ppt/notesMasters/notesMaster1.xml" Id="R5ef8351378ca4f2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8beb10ab9c4278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94168504c40f438f" /><Relationship Type="http://schemas.openxmlformats.org/officeDocument/2006/relationships/slideLayout" Target="/ppt/slideLayouts/slideLayout2.xml" Id="R8b29e2c7e58b49f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b29e2c7e58b49f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026b038a3794ae0" /><Relationship Type="http://schemas.openxmlformats.org/officeDocument/2006/relationships/notesSlide" Target="/ppt/notesSlides/notesSlide1.xml" Id="R40853d63b5fd48d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f1d8614105446a1" /><Relationship Type="http://schemas.openxmlformats.org/officeDocument/2006/relationships/image" Target="/ppt/media/image.png" Id="Rf8f6a9a925e94d35" /><Relationship Type="http://schemas.openxmlformats.org/officeDocument/2006/relationships/image" Target="/ppt/media/image.svg" Id="Rf0bc393d81144202" /><Relationship Type="http://schemas.openxmlformats.org/officeDocument/2006/relationships/image" Target="/ppt/media/image2.png" Id="R2036d113394048c9" /><Relationship Type="http://schemas.openxmlformats.org/officeDocument/2006/relationships/image" Target="/ppt/media/image2.svg" Id="R5f26431f76634fbf" /><Relationship Type="http://schemas.openxmlformats.org/officeDocument/2006/relationships/image" Target="/ppt/media/image3.png" Id="R7fa58cb758cf4240" /><Relationship Type="http://schemas.openxmlformats.org/officeDocument/2006/relationships/image" Target="/ppt/media/image3.svg" Id="Rf2a201f667eb4a65" /><Relationship Type="http://schemas.openxmlformats.org/officeDocument/2006/relationships/notesSlide" Target="/ppt/notesSlides/notesSlide2.xml" Id="Rccf3b98f3f4d4c1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02be6ae9f0b4d4c" /><Relationship Type="http://schemas.openxmlformats.org/officeDocument/2006/relationships/image" Target="/ppt/media/image4.png" Id="R1c31a082a53f4e2e" /><Relationship Type="http://schemas.openxmlformats.org/officeDocument/2006/relationships/image" Target="/ppt/media/image4.svg" Id="R5208bbd226324ec7" /><Relationship Type="http://schemas.openxmlformats.org/officeDocument/2006/relationships/image" Target="/ppt/media/image5.png" Id="R9fe4c05b245d47fe" /><Relationship Type="http://schemas.openxmlformats.org/officeDocument/2006/relationships/image" Target="/ppt/media/image5.svg" Id="Rac8c7a9ae6ed4c62" /><Relationship Type="http://schemas.openxmlformats.org/officeDocument/2006/relationships/image" Target="/ppt/media/image6.png" Id="R965aaad64b664d44" /><Relationship Type="http://schemas.openxmlformats.org/officeDocument/2006/relationships/image" Target="/ppt/media/image6.svg" Id="Rea8a9297e0b54abd" /><Relationship Type="http://schemas.openxmlformats.org/officeDocument/2006/relationships/image" Target="/ppt/media/image7.png" Id="Rd700a7d57630493f" /><Relationship Type="http://schemas.openxmlformats.org/officeDocument/2006/relationships/image" Target="/ppt/media/image7.svg" Id="Rfc8efd8a8dfa4eb0" /><Relationship Type="http://schemas.openxmlformats.org/officeDocument/2006/relationships/image" Target="/ppt/media/image8.png" Id="R757b528ecc8741a9" /><Relationship Type="http://schemas.openxmlformats.org/officeDocument/2006/relationships/image" Target="/ppt/media/image8.svg" Id="R6e9abb7e9b5d473a" /><Relationship Type="http://schemas.openxmlformats.org/officeDocument/2006/relationships/notesSlide" Target="/ppt/notesSlides/notesSlide3.xml" Id="R021b0c87f28e4b2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364596740c44322" /><Relationship Type="http://schemas.openxmlformats.org/officeDocument/2006/relationships/image" Target="/ppt/media/image9.png" Id="R6d83c23a0fc74643" /><Relationship Type="http://schemas.openxmlformats.org/officeDocument/2006/relationships/image" Target="/ppt/media/image9.svg" Id="Rd0d78edaa6a4479a" /><Relationship Type="http://schemas.openxmlformats.org/officeDocument/2006/relationships/image" Target="/ppt/media/image10.png" Id="Rcca00a7817f44d45" /><Relationship Type="http://schemas.openxmlformats.org/officeDocument/2006/relationships/image" Target="/ppt/media/image10.svg" Id="Rc603563014514c8b" /><Relationship Type="http://schemas.openxmlformats.org/officeDocument/2006/relationships/image" Target="/ppt/media/image11.png" Id="R72d9d45218b9467a" /><Relationship Type="http://schemas.openxmlformats.org/officeDocument/2006/relationships/image" Target="/ppt/media/image11.svg" Id="R119ce789df814309" /><Relationship Type="http://schemas.openxmlformats.org/officeDocument/2006/relationships/image" Target="/ppt/media/image12.png" Id="R62bd8e4c9e144d23" /><Relationship Type="http://schemas.openxmlformats.org/officeDocument/2006/relationships/image" Target="/ppt/media/image12.svg" Id="R4b044ce22dca4948" /><Relationship Type="http://schemas.openxmlformats.org/officeDocument/2006/relationships/notesSlide" Target="/ppt/notesSlides/notesSlide4.xml" Id="Ra57321937ead470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16c585b32f64257" /><Relationship Type="http://schemas.openxmlformats.org/officeDocument/2006/relationships/notesSlide" Target="/ppt/notesSlides/notesSlide5.xml" Id="R8acc968ef1014fd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31799916c8d4c9f" /><Relationship Type="http://schemas.openxmlformats.org/officeDocument/2006/relationships/image" Target="/ppt/media/image13.png" Id="R9ebe23afb46644d5" /><Relationship Type="http://schemas.openxmlformats.org/officeDocument/2006/relationships/image" Target="/ppt/media/image13.svg" Id="R35dce47c9bba408a" /><Relationship Type="http://schemas.openxmlformats.org/officeDocument/2006/relationships/image" Target="/ppt/media/image14.png" Id="Rad4c7919afcf4224" /><Relationship Type="http://schemas.openxmlformats.org/officeDocument/2006/relationships/image" Target="/ppt/media/image14.svg" Id="Ra14340008ebc4f1f" /><Relationship Type="http://schemas.openxmlformats.org/officeDocument/2006/relationships/image" Target="/ppt/media/image15.png" Id="R5d02b2ea91e04159" /><Relationship Type="http://schemas.openxmlformats.org/officeDocument/2006/relationships/image" Target="/ppt/media/image15.svg" Id="R485ae6a0567041a6" /><Relationship Type="http://schemas.openxmlformats.org/officeDocument/2006/relationships/image" Target="/ppt/media/image16.png" Id="R1cd3f99ab7c941a9" /><Relationship Type="http://schemas.openxmlformats.org/officeDocument/2006/relationships/image" Target="/ppt/media/image16.svg" Id="Rffb6f83193a7470f" /><Relationship Type="http://schemas.openxmlformats.org/officeDocument/2006/relationships/image" Target="/ppt/media/image17.png" Id="R186eb8a28d9442c7" /><Relationship Type="http://schemas.openxmlformats.org/officeDocument/2006/relationships/image" Target="/ppt/media/image17.svg" Id="R61114e93ec374c0e" /><Relationship Type="http://schemas.openxmlformats.org/officeDocument/2006/relationships/image" Target="/ppt/media/image18.png" Id="R87ba1716a6664842" /><Relationship Type="http://schemas.openxmlformats.org/officeDocument/2006/relationships/image" Target="/ppt/media/image18.svg" Id="R4a27b47ef9c14ecb" /><Relationship Type="http://schemas.openxmlformats.org/officeDocument/2006/relationships/image" Target="/ppt/media/image19.png" Id="R33555c89499d492a" /><Relationship Type="http://schemas.openxmlformats.org/officeDocument/2006/relationships/image" Target="/ppt/media/image19.svg" Id="Rd5cbaa14054245ef" /><Relationship Type="http://schemas.openxmlformats.org/officeDocument/2006/relationships/image" Target="/ppt/media/image20.png" Id="R09977058b3a94ea4" /><Relationship Type="http://schemas.openxmlformats.org/officeDocument/2006/relationships/image" Target="/ppt/media/image20.svg" Id="R55fc2155494d4570" /><Relationship Type="http://schemas.openxmlformats.org/officeDocument/2006/relationships/notesSlide" Target="/ppt/notesSlides/notesSlide6.xml" Id="R0742f7286cc0416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6a1037306dd4242" /><Relationship Type="http://schemas.openxmlformats.org/officeDocument/2006/relationships/notesSlide" Target="/ppt/notesSlides/notesSlide7.xml" Id="Rc7cfa5e1902f455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19c1898ae844888" /><Relationship Type="http://schemas.openxmlformats.org/officeDocument/2006/relationships/image" Target="/ppt/media/image21.png" Id="Rc2b872c4fb20485c" /><Relationship Type="http://schemas.openxmlformats.org/officeDocument/2006/relationships/image" Target="/ppt/media/image21.svg" Id="R5be0e35e505e4a59" /><Relationship Type="http://schemas.openxmlformats.org/officeDocument/2006/relationships/image" Target="/ppt/media/image22.png" Id="Rf150e67dc43a4cbd" /><Relationship Type="http://schemas.openxmlformats.org/officeDocument/2006/relationships/image" Target="/ppt/media/image22.svg" Id="R4bf4755bffd04da5" /><Relationship Type="http://schemas.openxmlformats.org/officeDocument/2006/relationships/image" Target="/ppt/media/image23.png" Id="R9dfc9f2eeb5c4ce5" /><Relationship Type="http://schemas.openxmlformats.org/officeDocument/2006/relationships/image" Target="/ppt/media/image23.svg" Id="R8b55a4ace0c14da7" /><Relationship Type="http://schemas.openxmlformats.org/officeDocument/2006/relationships/notesSlide" Target="/ppt/notesSlides/notesSlide8.xml" Id="Rc7e948a1dbc64b9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94a9be60a58475c" /><Relationship Type="http://schemas.openxmlformats.org/officeDocument/2006/relationships/image" Target="/ppt/media/image24.png" Id="R1497b11e2cf74afa" /><Relationship Type="http://schemas.openxmlformats.org/officeDocument/2006/relationships/image" Target="/ppt/media/image24.svg" Id="R3d56884b73b24b50" /><Relationship Type="http://schemas.openxmlformats.org/officeDocument/2006/relationships/image" Target="/ppt/media/image25.png" Id="Rf35ede56c6644d66" /><Relationship Type="http://schemas.openxmlformats.org/officeDocument/2006/relationships/image" Target="/ppt/media/image25.svg" Id="R97de9d817ea844ef" /><Relationship Type="http://schemas.openxmlformats.org/officeDocument/2006/relationships/image" Target="/ppt/media/image26.png" Id="Ref6876c941eb40a3" /><Relationship Type="http://schemas.openxmlformats.org/officeDocument/2006/relationships/image" Target="/ppt/media/image26.svg" Id="Rcf04fe8b98624dea" /><Relationship Type="http://schemas.openxmlformats.org/officeDocument/2006/relationships/image" Target="/ppt/media/image27.png" Id="R70e1ce74f3fc4916" /><Relationship Type="http://schemas.openxmlformats.org/officeDocument/2006/relationships/image" Target="/ppt/media/image27.svg" Id="R4fb599c364fc4fd1" /><Relationship Type="http://schemas.openxmlformats.org/officeDocument/2006/relationships/notesSlide" Target="/ppt/notesSlides/notesSlide9.xml" Id="R641d0f0e02e2491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1bc8a0724c84b19" /><Relationship Type="http://schemas.openxmlformats.org/officeDocument/2006/relationships/notesSlide" Target="/ppt/notesSlides/notesSlide10.xml" Id="R915f11b4f890481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72c0e0f08664f29" /><Relationship Type="http://schemas.openxmlformats.org/officeDocument/2006/relationships/notesSlide" Target="/ppt/notesSlides/notesSlide11.xml" Id="R3d2669fcd9694de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66afcf100124559" /><Relationship Type="http://schemas.openxmlformats.org/officeDocument/2006/relationships/image" Target="/ppt/media/image28.png" Id="Rc9ef01f9185c43a6" /><Relationship Type="http://schemas.openxmlformats.org/officeDocument/2006/relationships/image" Target="/ppt/media/image28.svg" Id="R0096de564c064f4d" /><Relationship Type="http://schemas.openxmlformats.org/officeDocument/2006/relationships/image" Target="/ppt/media/image29.png" Id="R76ac3384cb154d2f" /><Relationship Type="http://schemas.openxmlformats.org/officeDocument/2006/relationships/image" Target="/ppt/media/image29.svg" Id="R7c9682f8a4d14370" /><Relationship Type="http://schemas.openxmlformats.org/officeDocument/2006/relationships/image" Target="/ppt/media/image30.png" Id="R755246e21cb748e2" /><Relationship Type="http://schemas.openxmlformats.org/officeDocument/2006/relationships/image" Target="/ppt/media/image30.svg" Id="R2d4837c48ac2443d" /><Relationship Type="http://schemas.openxmlformats.org/officeDocument/2006/relationships/image" Target="/ppt/media/image31.png" Id="Rc69d5cd8a7604094" /><Relationship Type="http://schemas.openxmlformats.org/officeDocument/2006/relationships/image" Target="/ppt/media/image31.svg" Id="Reed10d202b6842e7" /><Relationship Type="http://schemas.openxmlformats.org/officeDocument/2006/relationships/notesSlide" Target="/ppt/notesSlides/notesSlide12.xml" Id="R7aab8fd5b8cc43d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C36E9C1-8342-409C-B15B-6D482095A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5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B03402-9ED9-4C14-8461-2B732543A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42523"/>
              </a:gs>
              <a:gs pos="50000">
                <a:srgbClr val="20302E"/>
              </a:gs>
              <a:gs pos="100000">
                <a:srgbClr val="C86F4A"/>
              </a:gs>
            </a:gsLst>
            <a:lin ang="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F8F10E-5075-4F14-9189-256465442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7429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1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慧伴居 / CareTwin Home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F963D5-2FDE-4F2A-BFA5-3C9ED7E35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62100"/>
            <a:ext cx="781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E8D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FFE8D1"/>
                </a:solidFill>
                <a:latin typeface="Microsoft YaHei UI"/>
                <a:ea typeface="Microsoft YaHei UI"/>
                <a:cs typeface="Microsoft YaHei UI"/>
              </a:rPr>
              <a:t>非摄像头 AI 居家安全监护与照护协同系统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5C20C1-A902-443C-A6FB-6CCA9CD16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14550"/>
            <a:ext cx="666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6E5C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0">
                <a:solidFill>
                  <a:srgbClr val="F6E5CF"/>
                </a:solidFill>
                <a:latin typeface="Microsoft YaHei UI"/>
                <a:ea typeface="Microsoft YaHei UI"/>
                <a:cs typeface="Microsoft YaHei UI"/>
              </a:rPr>
              <a:t>通过多源传感器学习日常规律，在老人无法主动求助时提前发现风险，并联动家属与社区照护。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59E12C-A6E4-4708-BC4E-B2536E968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2000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F"/>
          </a:solidFill>
          <a:ln xmlns:a="http://schemas.openxmlformats.org/drawingml/2006/main" w="9525">
            <a:solidFill>
              <a:srgbClr val="E7C7A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97267A-3EFE-46D3-B8C1-6710EB914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1005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86F4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C86F4A"/>
                </a:solidFill>
                <a:latin typeface="Microsoft YaHei UI"/>
                <a:ea typeface="Microsoft YaHei UI"/>
                <a:cs typeface="Microsoft YaHei UI"/>
              </a:rPr>
              <a:t>感知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CE6AF8-8714-4FFA-9649-D83F4DC9B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529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rPr>
              <a:t>非摄像头传感器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52FC94-82C2-4638-8963-358A7D668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4767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B65F"/>
          </a:solidFill>
          <a:ln xmlns:a="http://schemas.openxmlformats.org/drawingml/2006/main" w="0">
            <a:solidFill>
              <a:srgbClr val="E6B6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0D1589-A6DE-4A44-8469-E83BE09FB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000500"/>
            <a:ext cx="2000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7C7A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35F140-E82B-4723-8929-91EF1659A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21005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86F4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C86F4A"/>
                </a:solidFill>
                <a:latin typeface="Microsoft YaHei UI"/>
                <a:ea typeface="Microsoft YaHei UI"/>
                <a:cs typeface="Microsoft YaHei UI"/>
              </a:rPr>
              <a:t>理解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C2C242-AE8A-47B9-8C0C-DC6B6D190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5529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rPr>
              <a:t>个体生活基线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FAD1AB-AFF8-4C9D-9A64-C079D74C1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4767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B65F"/>
          </a:solidFill>
          <a:ln xmlns:a="http://schemas.openxmlformats.org/drawingml/2006/main" w="0">
            <a:solidFill>
              <a:srgbClr val="E6B6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1B8877-888A-491E-AB9C-C5D0D0E56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000500"/>
            <a:ext cx="2000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7C7A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9544DE-D734-4E54-928D-5A0AEBB55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21005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86F4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C86F4A"/>
                </a:solidFill>
                <a:latin typeface="Microsoft YaHei UI"/>
                <a:ea typeface="Microsoft YaHei UI"/>
                <a:cs typeface="Microsoft YaHei UI"/>
              </a:rPr>
              <a:t>解释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DA9391-6605-418D-9180-0F8BE5517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5529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rPr>
              <a:t>风险分数与原因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5A62CD-8586-4A5F-8C73-3D775B6D7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4767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B65F"/>
          </a:solidFill>
          <a:ln xmlns:a="http://schemas.openxmlformats.org/drawingml/2006/main" w="0">
            <a:solidFill>
              <a:srgbClr val="E6B6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6C262D-D956-460F-87D7-216D63DB8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000500"/>
            <a:ext cx="2000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7C7A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252BFE-3C2E-4ADD-9768-998FD5CFE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21005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86F4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C86F4A"/>
                </a:solidFill>
                <a:latin typeface="Microsoft YaHei UI"/>
                <a:ea typeface="Microsoft YaHei UI"/>
                <a:cs typeface="Microsoft YaHei UI"/>
              </a:rPr>
              <a:t>联动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BD9477-9FF1-48FF-A86B-B08538D31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5529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rPr>
              <a:t>灯光 / 家属 / 社区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4EAC81-7BD2-42DE-A2BC-C71BC045F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912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E8D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FFE8D1"/>
                </a:solidFill>
                <a:latin typeface="Microsoft YaHei UI"/>
                <a:ea typeface="Microsoft YaHei UI"/>
                <a:cs typeface="Microsoft YaHei UI"/>
              </a:rPr>
              <a:t>商业介绍 deck · Chunhui Cup / 内部展示</a:t>
            </a:r>
          </a:p>
        </p:txBody>
      </p:sp>
    </p:spTree>
    <p:extLst>
      <p:ext uri="{BB962C8B-B14F-4D97-AF65-F5344CB8AC3E}">
        <p14:creationId xmlns:p14="http://schemas.microsoft.com/office/powerpoint/2010/main" val="206487833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D0A2B38-14F0-4CA7-A4AC-B104C68F1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3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A011F6-E07A-45DA-AD86-6F6D2F7BC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6F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BC7CB7-52DB-4FAD-87BD-6F4115A1B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86F4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86F4A"/>
                </a:solidFill>
                <a:latin typeface="Aptos"/>
                <a:ea typeface="Aptos"/>
                <a:cs typeface="Aptos"/>
              </a:rPr>
              <a:t>MARKET PAIN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AFC1F4-4C3E-4D5E-8AE9-D240B923C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9906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rPr>
              <a:t>真正的缺口不是“家里没有设备”，而是异常发生时没人及时确认。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20D36D-0925-4E85-81F8-08625C16C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914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16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68716B"/>
                </a:solidFill>
                <a:latin typeface="Microsoft YaHei UI"/>
                <a:ea typeface="Microsoft YaHei UI"/>
                <a:cs typeface="Microsoft YaHei UI"/>
              </a:rPr>
              <a:t>独居与半失能老人需要的是隐私友好、可解释、可升级的照护响应。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04EC8E-5AE8-4642-A2C2-8E768D5B6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2667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C817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C8175"/>
                </a:solidFill>
                <a:latin typeface="Aptos"/>
                <a:ea typeface="Aptos"/>
                <a:cs typeface="Aptos"/>
              </a:rPr>
              <a:t>CareTwin Home / 慧伴居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2BCB55-8643-415D-B711-21DC0652B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0"/>
            <a:ext cx="3143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D5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425943-7B1D-4C1D-8147-D91BD5530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432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rPr>
              <a:t>风险不可见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66EC90-B9E6-4F74-9A2E-E889DD1FC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81400"/>
            <a:ext cx="2571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16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68716B"/>
                </a:solidFill>
                <a:latin typeface="Microsoft YaHei UI"/>
                <a:ea typeface="Microsoft YaHei UI"/>
                <a:cs typeface="Microsoft YaHei UI"/>
              </a:rPr>
              <a:t>老人夜间滞留、摔倒后静止、忘记关火时，不一定能主动按下求救按钮。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EBA16F-87CE-42EB-8130-7B6D6051B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86000"/>
            <a:ext cx="3143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D5C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4E0A35-9199-4D2E-8244-C6C0FC649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1432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rPr>
              <a:t>摄像头难接受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00AA83-8E8A-43DF-9304-0F8C57DC5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581400"/>
            <a:ext cx="2571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16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68716B"/>
                </a:solidFill>
                <a:latin typeface="Microsoft YaHei UI"/>
                <a:ea typeface="Microsoft YaHei UI"/>
                <a:cs typeface="Microsoft YaHei UI"/>
              </a:rPr>
              <a:t>家庭监护如果依赖画面，会带来隐私压力，老人和家属接受度都受影响。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604E57-08C2-40F2-AF94-5A4D807D5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86000"/>
            <a:ext cx="3143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D5C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C55D4E-0206-4DB9-9732-82D25BFBC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1432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rPr>
              <a:t>照护资源分散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28EA81-7803-4B59-A130-BC519A3BE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581400"/>
            <a:ext cx="2571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16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68716B"/>
                </a:solidFill>
                <a:latin typeface="Microsoft YaHei UI"/>
                <a:ea typeface="Microsoft YaHei UI"/>
                <a:cs typeface="Microsoft YaHei UI"/>
              </a:rPr>
              <a:t>家属、社区、物业和机构各自行动，缺少统一的风险分级和处理闭环。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84BE9F-EA00-4D7A-9633-515AFFACD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6F4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C86F4A"/>
                </a:solidFill>
                <a:latin typeface="Microsoft YaHei UI"/>
                <a:ea typeface="Microsoft YaHei UI"/>
                <a:cs typeface="Microsoft YaHei UI"/>
              </a:rPr>
              <a:t>商业判断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7B185C-BE2B-4ABA-9D8B-46D95E76F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219700"/>
            <a:ext cx="838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1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rPr>
              <a:t>用户不缺“看见家里”的工具，缺的是在不冒犯隐私的前提下，把异常模式转成可信、可执行的照护动作。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f6a9a925e94d35">
            <a:extLst>
              <a:ext uri="{96DAC541-7B7A-43D3-8B79-37D633B846F1}">
                <asvg:svgBlip xmlns:asvg="http://schemas.microsoft.com/office/drawing/2016/SVG/main" r:embed="Rf0bc393d8114420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33450" y="2552700"/>
            <a:ext cx="419100" cy="419100"/>
          </a:xfrm>
          <a:prstGeom xmlns:a="http://schemas.openxmlformats.org/drawingml/2006/main" prst="rect">
            <a:avLst/>
          </a:prstGeom>
        </p:spPr>
      </p:pic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36d113394048c9">
            <a:extLst>
              <a:ext uri="{96DAC541-7B7A-43D3-8B79-37D633B846F1}">
                <asvg:svgBlip xmlns:asvg="http://schemas.microsoft.com/office/drawing/2016/SVG/main" r:embed="R5f26431f76634fb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648200" y="2552700"/>
            <a:ext cx="419100" cy="419100"/>
          </a:xfrm>
          <a:prstGeom xmlns:a="http://schemas.openxmlformats.org/drawingml/2006/main" prst="rect">
            <a:avLst/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a58cb758cf4240">
            <a:extLst>
              <a:ext uri="{96DAC541-7B7A-43D3-8B79-37D633B846F1}">
                <asvg:svgBlip xmlns:asvg="http://schemas.microsoft.com/office/drawing/2016/SVG/main" r:embed="Rf2a201f667eb4a6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62950" y="2552700"/>
            <a:ext cx="419100" cy="419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786398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AEE0EC9-19C9-420A-843E-7D11DC8A0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3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3E7CF7-4343-4DF6-A102-467FC6197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6F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C3660D-7D65-42C2-B578-E8036FCB8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86F4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86F4A"/>
                </a:solidFill>
                <a:latin typeface="Aptos"/>
                <a:ea typeface="Aptos"/>
                <a:cs typeface="Aptos"/>
              </a:rPr>
              <a:t>WHO PAYS / WHO USES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43FE42-6CDD-4FE2-8727-C6449E578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9906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rPr>
              <a:t>第一批客户不是单一老人，而是围绕老人形成的照护网络。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9828BE-73E2-4531-8ECA-7A275A56F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914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16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68716B"/>
                </a:solidFill>
                <a:latin typeface="Microsoft YaHei UI"/>
                <a:ea typeface="Microsoft YaHei UI"/>
                <a:cs typeface="Microsoft YaHei UI"/>
              </a:rPr>
              <a:t>产品设计要同时服务老人、家属、社区照护员和机构采购方。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0885C8-A1B9-47BF-A697-53FA5B249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2667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C817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C8175"/>
                </a:solidFill>
                <a:latin typeface="Aptos"/>
                <a:ea typeface="Aptos"/>
                <a:cs typeface="Aptos"/>
              </a:rPr>
              <a:t>CareTwin Home / 慧伴居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93195E-9888-48F0-83DA-DC6469656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86050"/>
            <a:ext cx="2286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DD"/>
          </a:solidFill>
          <a:ln xmlns:a="http://schemas.openxmlformats.org/drawingml/2006/main" w="9525">
            <a:solidFill>
              <a:srgbClr val="DFAF8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A40B31-7AF1-40FB-8C58-A79FA6A5E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37185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rPr>
              <a:t>老人家庭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ADE310-04B5-42B5-A236-E08E74E25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6957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8716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68716B"/>
                </a:solidFill>
                <a:latin typeface="Microsoft YaHei UI"/>
                <a:ea typeface="Microsoft YaHei UI"/>
                <a:cs typeface="Microsoft YaHei UI"/>
              </a:rPr>
              <a:t>被动安全监护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A002AD-9CAA-4671-8CF7-B3FEB3DB6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95500"/>
            <a:ext cx="2286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D5C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56ECF5-CE09-4FF4-AF90-DD158808A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305050"/>
            <a:ext cx="133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rPr>
              <a:t>家属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31170B-D0C2-43BC-B682-4C730D876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62890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16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68716B"/>
                </a:solidFill>
                <a:latin typeface="Microsoft YaHei UI"/>
                <a:ea typeface="Microsoft YaHei UI"/>
                <a:cs typeface="Microsoft YaHei UI"/>
              </a:rPr>
              <a:t>订阅/确认告警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41F158-3CAB-49C3-8D7D-B0C85A765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95500"/>
            <a:ext cx="2286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D5C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F99F9D-9F9A-4710-B096-398B4EA97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305050"/>
            <a:ext cx="133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rPr>
              <a:t>社区照护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94C2D4-C00C-4CF1-AC54-4853FDF8A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62890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16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68716B"/>
                </a:solidFill>
                <a:latin typeface="Microsoft YaHei UI"/>
                <a:ea typeface="Microsoft YaHei UI"/>
                <a:cs typeface="Microsoft YaHei UI"/>
              </a:rPr>
              <a:t>派单/上门/回访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588E2B-4C2A-405C-B9B1-30C87D86B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24375"/>
            <a:ext cx="2286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D5C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18C200-0CC5-4D3F-A9EB-F9E5FCD60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733925"/>
            <a:ext cx="133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rPr>
              <a:t>养老机构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D019C5-C6EA-4D17-8E95-15AB2FD04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057775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16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68716B"/>
                </a:solidFill>
                <a:latin typeface="Microsoft YaHei UI"/>
                <a:ea typeface="Microsoft YaHei UI"/>
                <a:cs typeface="Microsoft YaHei UI"/>
              </a:rPr>
              <a:t>批量部署/运营管理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2FAF10-C9C0-4E89-9FE4-29FCFCEB0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24375"/>
            <a:ext cx="2286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D5C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737ECB-2EC2-41A5-A664-3368497B4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733925"/>
            <a:ext cx="133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rPr>
              <a:t>物业/保险合作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884C79-81A8-44D3-B1E4-8AC8C9ED5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057775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16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68716B"/>
                </a:solidFill>
                <a:latin typeface="Microsoft YaHei UI"/>
                <a:ea typeface="Microsoft YaHei UI"/>
                <a:cs typeface="Microsoft YaHei UI"/>
              </a:rPr>
              <a:t>场景入口/风险减损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DCD614-46C4-48F8-8FAB-A4C0CD275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609850"/>
            <a:ext cx="1047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B65F"/>
          </a:solidFill>
          <a:ln xmlns:a="http://schemas.openxmlformats.org/drawingml/2006/main" w="0">
            <a:solidFill>
              <a:srgbClr val="E6B65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596140-382C-4D50-B7BA-2583313E0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609850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B65F"/>
          </a:solidFill>
          <a:ln xmlns:a="http://schemas.openxmlformats.org/drawingml/2006/main" w="0">
            <a:solidFill>
              <a:srgbClr val="E6B65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8C6008-A4F6-4322-B6C9-8B9287209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038725"/>
            <a:ext cx="1047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B65F"/>
          </a:solidFill>
          <a:ln xmlns:a="http://schemas.openxmlformats.org/drawingml/2006/main" w="0">
            <a:solidFill>
              <a:srgbClr val="E6B65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87C442-877E-48F8-A919-A18E9EC15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038725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B65F"/>
          </a:solidFill>
          <a:ln xmlns:a="http://schemas.openxmlformats.org/drawingml/2006/main" w="0">
            <a:solidFill>
              <a:srgbClr val="E6B65F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31a082a53f4e2e">
            <a:extLst>
              <a:ext uri="{96DAC541-7B7A-43D3-8B79-37D633B846F1}">
                <asvg:svgBlip xmlns:asvg="http://schemas.microsoft.com/office/drawing/2016/SVG/main" r:embed="R5208bbd226324ec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734050" y="2895600"/>
            <a:ext cx="342900" cy="342900"/>
          </a:xfrm>
          <a:prstGeom xmlns:a="http://schemas.openxmlformats.org/drawingml/2006/main" prst="rect">
            <a:avLst/>
          </a:prstGeom>
        </p:spPr>
      </p:pic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e4c05b245d47fe">
            <a:extLst>
              <a:ext uri="{96DAC541-7B7A-43D3-8B79-37D633B846F1}">
                <asvg:svgBlip xmlns:asvg="http://schemas.microsoft.com/office/drawing/2016/SVG/main" r:embed="Rac8c7a9ae6ed4c6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619250" y="2305050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5aaad64b664d44">
            <a:extLst>
              <a:ext uri="{96DAC541-7B7A-43D3-8B79-37D633B846F1}">
                <asvg:svgBlip xmlns:asvg="http://schemas.microsoft.com/office/drawing/2016/SVG/main" r:embed="Rea8a9297e0b54ab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763000" y="2305050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00a7d57630493f">
            <a:extLst>
              <a:ext uri="{96DAC541-7B7A-43D3-8B79-37D633B846F1}">
                <asvg:svgBlip xmlns:asvg="http://schemas.microsoft.com/office/drawing/2016/SVG/main" r:embed="Rfc8efd8a8dfa4eb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714500" y="4733925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7b528ecc8741a9">
            <a:extLst>
              <a:ext uri="{96DAC541-7B7A-43D3-8B79-37D633B846F1}">
                <asvg:svgBlip xmlns:asvg="http://schemas.microsoft.com/office/drawing/2016/SVG/main" r:embed="R6e9abb7e9b5d473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763000" y="4733925"/>
            <a:ext cx="323850" cy="323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85602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8E532AB-E964-400A-A745-E4F372EAE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3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61B642-31F3-41FB-9D2B-29F38006D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6F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5CF67C-1B8B-44EC-AAF3-DAD939A1C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86F4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86F4A"/>
                </a:solidFill>
                <a:latin typeface="Aptos"/>
                <a:ea typeface="Aptos"/>
                <a:cs typeface="Aptos"/>
              </a:rPr>
              <a:t>PRODUCT LOOP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8E0F8F-F10E-41E3-ADB7-56664982A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9906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rPr>
              <a:t>慧伴居的产品价值来自“发现异常”到“照护闭环”的连续链路。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4C1BF8-29DC-4A80-AF31-7D34D5E31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914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16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68716B"/>
                </a:solidFill>
                <a:latin typeface="Microsoft YaHei UI"/>
                <a:ea typeface="Microsoft YaHei UI"/>
                <a:cs typeface="Microsoft YaHei UI"/>
              </a:rPr>
              <a:t>每一步都必须可解释、可追踪、可升级。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73803A-9086-4B37-80E3-34CF40C44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2667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C817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C8175"/>
                </a:solidFill>
                <a:latin typeface="Aptos"/>
                <a:ea typeface="Aptos"/>
                <a:cs typeface="Aptos"/>
              </a:rPr>
              <a:t>CareTwin Home / 慧伴居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ED4277-0CF0-4128-82A4-260D25DAD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2381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D5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047E6E-4444-4937-9D8C-694B4A5B1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667000"/>
            <a:ext cx="1600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rPr>
              <a:t>非摄像头感知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CD50DA-9F44-4392-A84A-8F294E1DF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952750"/>
            <a:ext cx="1600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8716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38" b="0">
                <a:solidFill>
                  <a:srgbClr val="68716B"/>
                </a:solidFill>
                <a:latin typeface="Microsoft YaHei UI"/>
                <a:ea typeface="Microsoft YaHei UI"/>
                <a:cs typeface="Microsoft YaHei UI"/>
              </a:rPr>
              <a:t>门磁、毫米波、床垫、燃气、药盒等传感器生成事件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D11D58-9B6F-4B22-A806-B05456C75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76500"/>
            <a:ext cx="2381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D5C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28C164-189B-43DF-8F70-E101B499D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667000"/>
            <a:ext cx="1600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rPr>
              <a:t>生活规律学习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52D2FF-8A33-44B3-91A5-20918665C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952750"/>
            <a:ext cx="1600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8716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38" b="0">
                <a:solidFill>
                  <a:srgbClr val="68716B"/>
                </a:solidFill>
                <a:latin typeface="Microsoft YaHei UI"/>
                <a:ea typeface="Microsoft YaHei UI"/>
                <a:cs typeface="Microsoft YaHei UI"/>
              </a:rPr>
              <a:t>建立个人化起床、如厕、厨房、出门和睡眠基线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DAB170-6770-44D6-8B40-F8CD6819C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76500"/>
            <a:ext cx="2381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D5C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6FCD49-E071-4BC7-B8AF-6EE0EE159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667000"/>
            <a:ext cx="1600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rPr>
              <a:t>风险解释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DB27AD-F0B2-45E5-8D35-A41A28624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952750"/>
            <a:ext cx="1600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8716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38" b="0">
                <a:solidFill>
                  <a:srgbClr val="68716B"/>
                </a:solidFill>
                <a:latin typeface="Microsoft YaHei UI"/>
                <a:ea typeface="Microsoft YaHei UI"/>
                <a:cs typeface="Microsoft YaHei UI"/>
              </a:rPr>
              <a:t>输出 0-100 分、等级、场景标签和升高原因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2696F5-3F13-4C5B-BEE5-5BE9D13AD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76500"/>
            <a:ext cx="2381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D5C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09F955-D9C3-4E48-95BF-BC5995FCE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667000"/>
            <a:ext cx="1600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rPr>
              <a:t>分级联动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702580-CE60-4C91-BB9E-5D546B8F2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952750"/>
            <a:ext cx="1600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8716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38" b="0">
                <a:solidFill>
                  <a:srgbClr val="68716B"/>
                </a:solidFill>
                <a:latin typeface="Microsoft YaHei UI"/>
                <a:ea typeface="Microsoft YaHei UI"/>
                <a:cs typeface="Microsoft YaHei UI"/>
              </a:rPr>
              <a:t>夜灯、语音、家属通知、社区照护逐级触发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04EAA8-D4C4-40A4-80AD-637FBC71C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990850"/>
            <a:ext cx="323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B65F"/>
          </a:solidFill>
          <a:ln xmlns:a="http://schemas.openxmlformats.org/drawingml/2006/main" w="0">
            <a:solidFill>
              <a:srgbClr val="E6B65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E8938F-6BBA-46A0-A9EC-0108D4ABE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990850"/>
            <a:ext cx="323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B65F"/>
          </a:solidFill>
          <a:ln xmlns:a="http://schemas.openxmlformats.org/drawingml/2006/main" w="0">
            <a:solidFill>
              <a:srgbClr val="E6B65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E38ED5-308B-40D9-B582-78C9EDD1D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990850"/>
            <a:ext cx="323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B65F"/>
          </a:solidFill>
          <a:ln xmlns:a="http://schemas.openxmlformats.org/drawingml/2006/main" w="0">
            <a:solidFill>
              <a:srgbClr val="E6B6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0D1811-2176-464D-BDB0-F1C3028AB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76800"/>
            <a:ext cx="857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DD"/>
          </a:solidFill>
          <a:ln xmlns:a="http://schemas.openxmlformats.org/drawingml/2006/main" w="9525">
            <a:solidFill>
              <a:srgbClr val="E0BE9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C5902E-84EF-4F63-AE47-227166A24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06730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86F4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C86F4A"/>
                </a:solidFill>
                <a:latin typeface="Microsoft YaHei UI"/>
                <a:ea typeface="Microsoft YaHei UI"/>
                <a:cs typeface="Microsoft YaHei UI"/>
              </a:rPr>
              <a:t>差异化表达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628E83-0ECA-4CF9-8701-F38E0BF43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067300"/>
            <a:ext cx="590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rPr>
              <a:t>不是“智能家居控制”，而是把家庭传感器事件转译成老人照护决策。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83c23a0fc74643">
            <a:extLst>
              <a:ext uri="{96DAC541-7B7A-43D3-8B79-37D633B846F1}">
                <asvg:svgBlip xmlns:asvg="http://schemas.microsoft.com/office/drawing/2016/SVG/main" r:embed="Rd0d78edaa6a4479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8200" y="2667000"/>
            <a:ext cx="304800" cy="304800"/>
          </a:xfrm>
          <a:prstGeom xmlns:a="http://schemas.openxmlformats.org/drawingml/2006/main" prst="rect">
            <a:avLst/>
          </a:prstGeom>
        </p:spPr>
      </p:pic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a00a7817f44d45">
            <a:extLst>
              <a:ext uri="{96DAC541-7B7A-43D3-8B79-37D633B846F1}">
                <asvg:svgBlip xmlns:asvg="http://schemas.microsoft.com/office/drawing/2016/SVG/main" r:embed="Rc603563014514c8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695700" y="2667000"/>
            <a:ext cx="304800" cy="304800"/>
          </a:xfrm>
          <a:prstGeom xmlns:a="http://schemas.openxmlformats.org/drawingml/2006/main" prst="rect">
            <a:avLst/>
          </a:prstGeom>
        </p:spPr>
      </p:pic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d9d45218b9467a">
            <a:extLst>
              <a:ext uri="{96DAC541-7B7A-43D3-8B79-37D633B846F1}">
                <asvg:svgBlip xmlns:asvg="http://schemas.microsoft.com/office/drawing/2016/SVG/main" r:embed="R119ce789df81430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553200" y="2667000"/>
            <a:ext cx="304800" cy="304800"/>
          </a:xfrm>
          <a:prstGeom xmlns:a="http://schemas.openxmlformats.org/drawingml/2006/main" prst="rect">
            <a:avLst/>
          </a:prstGeom>
        </p:spPr>
      </p:pic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bd8e4c9e144d23">
            <a:extLst>
              <a:ext uri="{96DAC541-7B7A-43D3-8B79-37D633B846F1}">
                <asvg:svgBlip xmlns:asvg="http://schemas.microsoft.com/office/drawing/2016/SVG/main" r:embed="R4b044ce22dca494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410700" y="2667000"/>
            <a:ext cx="304800" cy="3048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588414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864598D-8595-475D-9364-1C7EE1288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3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4DD0AA-D456-4794-9A17-89CF3C870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6F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4488F4-7FE7-42BC-BA69-33A67ABDC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86F4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86F4A"/>
                </a:solidFill>
                <a:latin typeface="Aptos"/>
                <a:ea typeface="Aptos"/>
                <a:cs typeface="Aptos"/>
              </a:rPr>
              <a:t>HERO SCENARIO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7A0482-8CB0-44A5-B4B1-8D72A44CE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9906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rPr>
              <a:t>夜间卫生间滞留是最能打动评委和家属的首个故事。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C4C070-DDAC-4385-978F-716BAC39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914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16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68716B"/>
                </a:solidFill>
                <a:latin typeface="Microsoft YaHei UI"/>
                <a:ea typeface="Microsoft YaHei UI"/>
                <a:cs typeface="Microsoft YaHei UI"/>
              </a:rPr>
              <a:t>这个场景同时证明非摄像头感知、行为基线、风险解释和家属联动。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A16A81-AB01-4EE6-ACE7-54F249527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2667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C817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C8175"/>
                </a:solidFill>
                <a:latin typeface="Aptos"/>
                <a:ea typeface="Aptos"/>
                <a:cs typeface="Aptos"/>
              </a:rPr>
              <a:t>CareTwin Home / 慧伴居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7B1A97-44A5-4AE4-A0B4-A5F6036FA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38500"/>
            <a:ext cx="933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5C2"/>
          </a:solidFill>
          <a:ln xmlns:a="http://schemas.openxmlformats.org/drawingml/2006/main" w="0">
            <a:solidFill>
              <a:srgbClr val="E8D5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6982D8-CA07-4893-B1C9-1DEABF9FD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0515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B65F"/>
          </a:solidFill>
          <a:ln xmlns:a="http://schemas.openxmlformats.org/drawingml/2006/main" w="28575">
            <a:solidFill>
              <a:srgbClr val="FBF3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F4AC53-D5E6-434B-90BA-D93BEC384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7175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15C5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315C5A"/>
                </a:solidFill>
                <a:latin typeface="Microsoft YaHei UI"/>
                <a:ea typeface="Microsoft YaHei UI"/>
                <a:cs typeface="Microsoft YaHei UI"/>
              </a:rPr>
              <a:t>02:13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243017-4E4C-41CD-B950-47A56E2B9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58140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1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rPr>
              <a:t>离床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834A69-1126-45B5-BC7E-CBD5EB151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905250"/>
            <a:ext cx="1790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8716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68716B"/>
                </a:solidFill>
                <a:latin typeface="Microsoft YaHei UI"/>
                <a:ea typeface="Microsoft YaHei UI"/>
                <a:cs typeface="Microsoft YaHei UI"/>
              </a:rPr>
              <a:t>床垫压力变为无人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AF9742-FFB6-47B5-9FD4-419A35220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10515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B65F"/>
          </a:solidFill>
          <a:ln xmlns:a="http://schemas.openxmlformats.org/drawingml/2006/main" w="28575">
            <a:solidFill>
              <a:srgbClr val="FBF3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96CDB4-B9A6-45BF-B238-202B7F421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257175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15C5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315C5A"/>
                </a:solidFill>
                <a:latin typeface="Microsoft YaHei UI"/>
                <a:ea typeface="Microsoft YaHei UI"/>
                <a:cs typeface="Microsoft YaHei UI"/>
              </a:rPr>
              <a:t>02:14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CE9AEB-168A-42DA-B26D-71376F988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58140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1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rPr>
              <a:t>经过走廊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87A4C7-6E20-4576-8E4A-8078B7691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3905250"/>
            <a:ext cx="1790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8716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68716B"/>
                </a:solidFill>
                <a:latin typeface="Microsoft YaHei UI"/>
                <a:ea typeface="Microsoft YaHei UI"/>
                <a:cs typeface="Microsoft YaHei UI"/>
              </a:rPr>
              <a:t>人体存在传感器触发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3C17EC-64A5-46A2-93DB-D89921FC8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10515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B65F"/>
          </a:solidFill>
          <a:ln xmlns:a="http://schemas.openxmlformats.org/drawingml/2006/main" w="28575">
            <a:solidFill>
              <a:srgbClr val="FBF3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F28500-DC7C-4458-8860-C8C4485F7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57175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15C5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315C5A"/>
                </a:solidFill>
                <a:latin typeface="Microsoft YaHei UI"/>
                <a:ea typeface="Microsoft YaHei UI"/>
                <a:cs typeface="Microsoft YaHei UI"/>
              </a:rPr>
              <a:t>02:15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04C007-EE63-47D6-9D34-3C8594311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58140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1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rPr>
              <a:t>进入卫生间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D166C3-87F6-41CB-975A-2D3F56F7B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905250"/>
            <a:ext cx="1790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8716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68716B"/>
                </a:solidFill>
                <a:latin typeface="Microsoft YaHei UI"/>
                <a:ea typeface="Microsoft YaHei UI"/>
                <a:cs typeface="Microsoft YaHei UI"/>
              </a:rPr>
              <a:t>开始计算夜间停留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9CBC3B-BF73-4C73-B326-B7AF08ECC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10515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6F4A"/>
          </a:solidFill>
          <a:ln xmlns:a="http://schemas.openxmlformats.org/drawingml/2006/main" w="28575">
            <a:solidFill>
              <a:srgbClr val="FBF3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A21229-D8AA-4EF9-BA76-B0B06BC36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57175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C86F4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C86F4A"/>
                </a:solidFill>
                <a:latin typeface="Microsoft YaHei UI"/>
                <a:ea typeface="Microsoft YaHei UI"/>
                <a:cs typeface="Microsoft YaHei UI"/>
              </a:rPr>
              <a:t>02:30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74A0B1-4148-49DC-B459-7099CA4EB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58140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1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rPr>
              <a:t>超过基线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2767D1-B553-44CE-9CFF-F1AD2C821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3905250"/>
            <a:ext cx="1790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8716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68716B"/>
                </a:solidFill>
                <a:latin typeface="Microsoft YaHei UI"/>
                <a:ea typeface="Microsoft YaHei UI"/>
                <a:cs typeface="Microsoft YaHei UI"/>
              </a:rPr>
              <a:t>风险升至 Attention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292579-BE0C-4D3C-BDD9-191573D30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10515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6F4A"/>
          </a:solidFill>
          <a:ln xmlns:a="http://schemas.openxmlformats.org/drawingml/2006/main" w="28575">
            <a:solidFill>
              <a:srgbClr val="FBF3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4A8AB2-D6A8-42B4-B27A-06CE11647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57175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C86F4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C86F4A"/>
                </a:solidFill>
                <a:latin typeface="Microsoft YaHei UI"/>
                <a:ea typeface="Microsoft YaHei UI"/>
                <a:cs typeface="Microsoft YaHei UI"/>
              </a:rPr>
              <a:t>02:45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4516C2-452B-4D98-8B19-589AFFF24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58140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1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rPr>
              <a:t>高风险确认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F2256E-ADA1-4347-9B22-BF324E1A0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905250"/>
            <a:ext cx="1790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8716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68716B"/>
                </a:solidFill>
                <a:latin typeface="Microsoft YaHei UI"/>
                <a:ea typeface="Microsoft YaHei UI"/>
                <a:cs typeface="Microsoft YaHei UI"/>
              </a:rPr>
              <a:t>语音 + 家属 + 社区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3628C1-B7AA-4AA1-BB63-AC32B7062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953000"/>
            <a:ext cx="3429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D5C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AB2E08-1F89-480D-8CC4-26A761244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105400"/>
            <a:ext cx="3086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86F4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00" b="1">
                <a:solidFill>
                  <a:srgbClr val="C86F4A"/>
                </a:solidFill>
                <a:latin typeface="Microsoft YaHei UI"/>
                <a:ea typeface="Microsoft YaHei UI"/>
                <a:cs typeface="Microsoft YaHei UI"/>
              </a:rPr>
              <a:t>Normal → High Risk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A3C0363-9E58-43CD-A2B1-322114AF8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467350"/>
            <a:ext cx="3086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16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68716B"/>
                </a:solidFill>
                <a:latin typeface="Microsoft YaHei UI"/>
                <a:ea typeface="Microsoft YaHei UI"/>
                <a:cs typeface="Microsoft YaHei UI"/>
              </a:rPr>
              <a:t>风险不是瞬间报警，而是随停留时长和行为偏离逐级升高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3042F3B-8BDF-4FD5-A881-6B3AA7F78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53000"/>
            <a:ext cx="3429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D5C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BF9894B-7D4E-4937-B2C6-670577C79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105400"/>
            <a:ext cx="3086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15C5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00" b="1">
                <a:solidFill>
                  <a:srgbClr val="315C5A"/>
                </a:solidFill>
                <a:latin typeface="Microsoft YaHei UI"/>
                <a:ea typeface="Microsoft YaHei UI"/>
                <a:cs typeface="Microsoft YaHei UI"/>
              </a:rPr>
              <a:t>可解释告警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7BB8CB9-F46D-4479-AF73-403DE7C9E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467350"/>
            <a:ext cx="3086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16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68716B"/>
                </a:solidFill>
                <a:latin typeface="Microsoft YaHei UI"/>
                <a:ea typeface="Microsoft YaHei UI"/>
                <a:cs typeface="Microsoft YaHei UI"/>
              </a:rPr>
              <a:t>告知家属“为什么提醒”，避免黑盒恐慌</a:t>
            </a:r>
          </a:p>
        </p:txBody>
      </p:sp>
    </p:spTree>
    <p:extLst>
      <p:ext uri="{BB962C8B-B14F-4D97-AF65-F5344CB8AC3E}">
        <p14:creationId xmlns:p14="http://schemas.microsoft.com/office/powerpoint/2010/main" val="135645275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5578927-0745-4966-8ABF-0E0187382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3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1C565F-EAE0-4F89-841A-9DB55CB35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6F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7BB849-3CE2-493B-BB5C-B24A998F5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86F4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86F4A"/>
                </a:solidFill>
                <a:latin typeface="Aptos"/>
                <a:ea typeface="Aptos"/>
                <a:cs typeface="Aptos"/>
              </a:rPr>
              <a:t>SYSTEM 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C4184F-2C6B-48D5-8F6B-6313ECCCD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9906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rPr>
              <a:t>公司级系统要连接家庭设备、云端风险引擎和真实照护运营。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7B9BE2-91EC-4D24-9383-6988A0BAD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914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16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68716B"/>
                </a:solidFill>
                <a:latin typeface="Microsoft YaHei UI"/>
                <a:ea typeface="Microsoft YaHei UI"/>
                <a:cs typeface="Microsoft YaHei UI"/>
              </a:rPr>
              <a:t>MVP 的网页只是演示大屏，真实产品需要设备接入、告警服务和多端协同。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66EF85-FAE1-4984-A542-9E6295A97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2667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C817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C8175"/>
                </a:solidFill>
                <a:latin typeface="Aptos"/>
                <a:ea typeface="Aptos"/>
                <a:cs typeface="Aptos"/>
              </a:rPr>
              <a:t>CareTwin Home / 慧伴居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BCB018-5AB4-43CA-AE1E-9AC1032B4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38375"/>
            <a:ext cx="2857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5CF"/>
          </a:solidFill>
          <a:ln xmlns:a="http://schemas.openxmlformats.org/drawingml/2006/main" w="9525">
            <a:solidFill>
              <a:srgbClr val="E8D5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623024-52AE-4DCE-B591-66A0C92F0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76500"/>
            <a:ext cx="2095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950" b="1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rPr>
              <a:t>家庭端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578161-DD73-4CD9-BD69-EBC064C41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7655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16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68716B"/>
                </a:solidFill>
                <a:latin typeface="Microsoft YaHei UI"/>
                <a:ea typeface="Microsoft YaHei UI"/>
                <a:cs typeface="Microsoft YaHei UI"/>
              </a:rPr>
              <a:t>传感器 / 网关 / 灯光语音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AD2220-1472-4F33-90A1-D4E6AC817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38375"/>
            <a:ext cx="2857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D5C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291502-38BC-4B4D-9B06-07424FE63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476500"/>
            <a:ext cx="2095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950" b="1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rPr>
              <a:t>云端平台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5E8FF4-95DA-40CC-A869-1ED23772C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7655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16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68716B"/>
                </a:solidFill>
                <a:latin typeface="Microsoft YaHei UI"/>
                <a:ea typeface="Microsoft YaHei UI"/>
                <a:cs typeface="Microsoft YaHei UI"/>
              </a:rPr>
              <a:t>设备接入 / 事件流 / 风险引擎 / 告警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EA7B6D-56EA-486C-B046-57F3C357A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238375"/>
            <a:ext cx="2857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DD"/>
          </a:solidFill>
          <a:ln xmlns:a="http://schemas.openxmlformats.org/drawingml/2006/main" w="9525">
            <a:solidFill>
              <a:srgbClr val="E8D5C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3522BA-6747-4E3E-A5A9-7404A5406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476500"/>
            <a:ext cx="2095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950" b="1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rPr>
              <a:t>应用端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858B88-1720-432F-BB0A-AE8A8732B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87655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16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68716B"/>
                </a:solidFill>
                <a:latin typeface="Microsoft YaHei UI"/>
                <a:ea typeface="Microsoft YaHei UI"/>
                <a:cs typeface="Microsoft YaHei UI"/>
              </a:rPr>
              <a:t>家属端 / 社区后台 / 安装运维 / 演示大屏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4CD4CD-2DB0-4EC0-96F4-D1BD2804C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514725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rPr>
              <a:t>门磁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7C4605-EE9A-4EE6-9100-41A278C2C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514725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rPr>
              <a:t>毫米波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48277F-4A92-4FF3-93B6-063707371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386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rPr>
              <a:t>床垫压力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2260FC-954E-4159-9BB1-559678333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0386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rPr>
              <a:t>燃气烟雾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28C0B8-3F43-48CC-8221-CD15B714D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409950"/>
            <a:ext cx="1000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4CCB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595642-7727-4F6F-B306-BCFB7D1FF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476625"/>
            <a:ext cx="781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86F4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C86F4A"/>
                </a:solidFill>
                <a:latin typeface="Microsoft YaHei UI"/>
                <a:ea typeface="Microsoft YaHei UI"/>
                <a:cs typeface="Microsoft YaHei UI"/>
              </a:rPr>
              <a:t>接入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8C266C-9654-4895-B73A-93D4DD76F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676650"/>
            <a:ext cx="781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68716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0">
                <a:solidFill>
                  <a:srgbClr val="68716B"/>
                </a:solidFill>
                <a:latin typeface="Microsoft YaHei UI"/>
                <a:ea typeface="Microsoft YaHei UI"/>
                <a:cs typeface="Microsoft YaHei UI"/>
              </a:rPr>
              <a:t>MQTT/HTTP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947945-8957-4ACC-A1C0-3AE497A90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409950"/>
            <a:ext cx="1000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4CCB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034BE4-7077-4ADD-BAE1-F02140448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476625"/>
            <a:ext cx="781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86F4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C86F4A"/>
                </a:solidFill>
                <a:latin typeface="Microsoft YaHei UI"/>
                <a:ea typeface="Microsoft YaHei UI"/>
                <a:cs typeface="Microsoft YaHei UI"/>
              </a:rPr>
              <a:t>计算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21BB85-5122-4E27-A5F1-D3150345C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676650"/>
            <a:ext cx="781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68716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0">
                <a:solidFill>
                  <a:srgbClr val="68716B"/>
                </a:solidFill>
                <a:latin typeface="Microsoft YaHei UI"/>
                <a:ea typeface="Microsoft YaHei UI"/>
                <a:cs typeface="Microsoft YaHei UI"/>
              </a:rPr>
              <a:t>风险评分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1F14F6-06ED-4B97-9333-A2994BA23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962400"/>
            <a:ext cx="1000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4CCB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93DD16-1F00-4CD2-AC91-7231FCF8E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029075"/>
            <a:ext cx="781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86F4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C86F4A"/>
                </a:solidFill>
                <a:latin typeface="Microsoft YaHei UI"/>
                <a:ea typeface="Microsoft YaHei UI"/>
                <a:cs typeface="Microsoft YaHei UI"/>
              </a:rPr>
              <a:t>解释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99C036B-9CC7-4739-BDA0-7D6C2CAFA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229100"/>
            <a:ext cx="781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68716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0">
                <a:solidFill>
                  <a:srgbClr val="68716B"/>
                </a:solidFill>
                <a:latin typeface="Microsoft YaHei UI"/>
                <a:ea typeface="Microsoft YaHei UI"/>
                <a:cs typeface="Microsoft YaHei UI"/>
              </a:rPr>
              <a:t>原因/动作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FB3429E-4822-4B75-BD84-20B6951B1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962400"/>
            <a:ext cx="1000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4CCB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B752253-D811-4BC1-B669-4E5FAD3F1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029075"/>
            <a:ext cx="781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86F4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C86F4A"/>
                </a:solidFill>
                <a:latin typeface="Microsoft YaHei UI"/>
                <a:ea typeface="Microsoft YaHei UI"/>
                <a:cs typeface="Microsoft YaHei UI"/>
              </a:rPr>
              <a:t>审计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4D89666-8D5A-4C89-9F9A-3BF828F78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229100"/>
            <a:ext cx="781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68716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0">
                <a:solidFill>
                  <a:srgbClr val="68716B"/>
                </a:solidFill>
                <a:latin typeface="Microsoft YaHei UI"/>
                <a:ea typeface="Microsoft YaHei UI"/>
                <a:cs typeface="Microsoft YaHei UI"/>
              </a:rPr>
              <a:t>处理记录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73244F2-AB81-4F92-A79F-73E15D89C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514725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rPr>
              <a:t>家属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F3B3914-A404-47C5-8B4A-C8B78D596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3514725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rPr>
              <a:t>社区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1AFFE0D-3EB7-4773-BCE6-722FFCD9F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0386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rPr>
              <a:t>安装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E9034B4-E7DD-4FC6-8375-8B6978DC5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40386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rPr>
              <a:t>大屏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333F242-CCAE-4653-B4CD-7AF745ADA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429000"/>
            <a:ext cx="476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B65F"/>
          </a:solidFill>
          <a:ln xmlns:a="http://schemas.openxmlformats.org/drawingml/2006/main" w="0">
            <a:solidFill>
              <a:srgbClr val="E6B65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E7171DE-AA16-465B-9184-E46C3690B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2900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B65F"/>
          </a:solidFill>
          <a:ln xmlns:a="http://schemas.openxmlformats.org/drawingml/2006/main" w="0">
            <a:solidFill>
              <a:srgbClr val="E6B65F"/>
            </a:solidFill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be23afb46644d5">
            <a:extLst>
              <a:ext uri="{96DAC541-7B7A-43D3-8B79-37D633B846F1}">
                <asvg:svgBlip xmlns:asvg="http://schemas.microsoft.com/office/drawing/2016/SVG/main" r:embed="R35dce47c9bba408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47750" y="3476625"/>
            <a:ext cx="266700" cy="266700"/>
          </a:xfrm>
          <a:prstGeom xmlns:a="http://schemas.openxmlformats.org/drawingml/2006/main" prst="rect">
            <a:avLst/>
          </a:prstGeom>
        </p:spPr>
      </p:pic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4c7919afcf4224">
            <a:extLst>
              <a:ext uri="{96DAC541-7B7A-43D3-8B79-37D633B846F1}">
                <asvg:svgBlip xmlns:asvg="http://schemas.microsoft.com/office/drawing/2016/SVG/main" r:embed="Ra14340008ebc4f1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286000" y="3476625"/>
            <a:ext cx="266700" cy="266700"/>
          </a:xfrm>
          <a:prstGeom xmlns:a="http://schemas.openxmlformats.org/drawingml/2006/main" prst="rect">
            <a:avLst/>
          </a:prstGeom>
        </p:spPr>
      </p:pic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02b2ea91e04159">
            <a:extLst>
              <a:ext uri="{96DAC541-7B7A-43D3-8B79-37D633B846F1}">
                <asvg:svgBlip xmlns:asvg="http://schemas.microsoft.com/office/drawing/2016/SVG/main" r:embed="R485ae6a0567041a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47750" y="4000500"/>
            <a:ext cx="266700" cy="266700"/>
          </a:xfrm>
          <a:prstGeom xmlns:a="http://schemas.openxmlformats.org/drawingml/2006/main" prst="rect">
            <a:avLst/>
          </a:prstGeom>
        </p:spPr>
      </p:pic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d3f99ab7c941a9">
            <a:extLst>
              <a:ext uri="{96DAC541-7B7A-43D3-8B79-37D633B846F1}">
                <asvg:svgBlip xmlns:asvg="http://schemas.microsoft.com/office/drawing/2016/SVG/main" r:embed="Rffb6f83193a7470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286000" y="4000500"/>
            <a:ext cx="266700" cy="266700"/>
          </a:xfrm>
          <a:prstGeom xmlns:a="http://schemas.openxmlformats.org/drawingml/2006/main" prst="rect">
            <a:avLst/>
          </a:prstGeom>
        </p:spPr>
      </p:pic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6eb8a28d9442c7">
            <a:extLst>
              <a:ext uri="{96DAC541-7B7A-43D3-8B79-37D633B846F1}">
                <asvg:svgBlip xmlns:asvg="http://schemas.microsoft.com/office/drawing/2016/SVG/main" r:embed="R61114e93ec374c0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572500" y="3476625"/>
            <a:ext cx="266700" cy="266700"/>
          </a:xfrm>
          <a:prstGeom xmlns:a="http://schemas.openxmlformats.org/drawingml/2006/main" prst="rect">
            <a:avLst/>
          </a:prstGeom>
        </p:spPr>
      </p:pic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ba1716a6664842">
            <a:extLst>
              <a:ext uri="{96DAC541-7B7A-43D3-8B79-37D633B846F1}">
                <asvg:svgBlip xmlns:asvg="http://schemas.microsoft.com/office/drawing/2016/SVG/main" r:embed="R4a27b47ef9c14ec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810750" y="3476625"/>
            <a:ext cx="266700" cy="266700"/>
          </a:xfrm>
          <a:prstGeom xmlns:a="http://schemas.openxmlformats.org/drawingml/2006/main" prst="rect">
            <a:avLst/>
          </a:prstGeom>
        </p:spPr>
      </p:pic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555c89499d492a">
            <a:extLst>
              <a:ext uri="{96DAC541-7B7A-43D3-8B79-37D633B846F1}">
                <asvg:svgBlip xmlns:asvg="http://schemas.microsoft.com/office/drawing/2016/SVG/main" r:embed="Rd5cbaa14054245e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572500" y="4000500"/>
            <a:ext cx="266700" cy="266700"/>
          </a:xfrm>
          <a:prstGeom xmlns:a="http://schemas.openxmlformats.org/drawingml/2006/main" prst="rect">
            <a:avLst/>
          </a:prstGeom>
        </p:spPr>
      </p:pic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977058b3a94ea4">
            <a:extLst>
              <a:ext uri="{96DAC541-7B7A-43D3-8B79-37D633B846F1}">
                <asvg:svgBlip xmlns:asvg="http://schemas.microsoft.com/office/drawing/2016/SVG/main" r:embed="R55fc2155494d457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810750" y="4000500"/>
            <a:ext cx="266700" cy="2667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05486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C9E5DC-45AF-4DC5-A4A1-B59F5BD99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3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7391B6-ECDD-4E64-8E19-1AAFAB832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6F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335CB1-F406-4FD6-8762-F8FE15418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86F4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86F4A"/>
                </a:solidFill>
                <a:latin typeface="Aptos"/>
                <a:ea typeface="Aptos"/>
                <a:cs typeface="Aptos"/>
              </a:rPr>
              <a:t>SENSOR STRATEGY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44B78F-0B8E-42E6-9BB6-3BA2B0B41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9906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rPr>
              <a:t>硬件策略要轻资产起步：先集成成熟设备，再沉淀差异化数据能力。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D01812-D566-496B-8DFD-6A3DBA9EC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914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16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68716B"/>
                </a:solidFill>
                <a:latin typeface="Microsoft YaHei UI"/>
                <a:ea typeface="Microsoft YaHei UI"/>
                <a:cs typeface="Microsoft YaHei UI"/>
              </a:rPr>
              <a:t>早期目标是验证场景和数据闭环，不是立刻自研全套硬件。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D72DAC-FDB1-4D35-958F-D3E89CFEF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2667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C817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C8175"/>
                </a:solidFill>
                <a:latin typeface="Aptos"/>
                <a:ea typeface="Aptos"/>
                <a:cs typeface="Aptos"/>
              </a:rPr>
              <a:t>CareTwin Home / 慧伴居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0609E0-FA30-42C5-B63C-FAAB3F338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081087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D5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017420-EF99-45D7-A7A3-33EE010A1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2410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6F4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C86F4A"/>
                </a:solidFill>
                <a:latin typeface="Microsoft YaHei UI"/>
                <a:ea typeface="Microsoft YaHei UI"/>
                <a:cs typeface="Microsoft YaHei UI"/>
              </a:rPr>
              <a:t>区域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F0B1DB-50FB-47A1-87A2-C2304A301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32410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6F4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C86F4A"/>
                </a:solidFill>
                <a:latin typeface="Microsoft YaHei UI"/>
                <a:ea typeface="Microsoft YaHei UI"/>
                <a:cs typeface="Microsoft YaHei UI"/>
              </a:rPr>
              <a:t>设备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BABDB4-A201-4806-A369-4BDEA0946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3241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6F4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C86F4A"/>
                </a:solidFill>
                <a:latin typeface="Microsoft YaHei UI"/>
                <a:ea typeface="Microsoft YaHei UI"/>
                <a:cs typeface="Microsoft YaHei UI"/>
              </a:rPr>
              <a:t>商业价值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936469-A6E7-4299-9058-40629BCF3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3241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6F4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C86F4A"/>
                </a:solidFill>
                <a:latin typeface="Microsoft YaHei UI"/>
                <a:ea typeface="Microsoft YaHei UI"/>
                <a:cs typeface="Microsoft YaHei UI"/>
              </a:rPr>
              <a:t>早期策略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8762BB-35C0-4743-B9E8-F96849955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47950"/>
            <a:ext cx="103441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0">
            <a:solidFill>
              <a:srgbClr val="FFF9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0AA298-59C5-4F0F-B637-A943BD9D0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432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rPr>
              <a:t>入口 / 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961185-C783-405B-AE2D-36C6B7E53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4320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rPr>
              <a:t>门磁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76C18E-0B39-4DC2-8A56-96011E5D7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43200"/>
            <a:ext cx="3714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rPr>
              <a:t>夜间开门、徘徊、离家风险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B36197-52E8-47C7-83A2-6FAF052A8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74320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15C5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315C5A"/>
                </a:solidFill>
                <a:latin typeface="Microsoft YaHei UI"/>
                <a:ea typeface="Microsoft YaHei UI"/>
                <a:cs typeface="Microsoft YaHei UI"/>
              </a:rPr>
              <a:t>成熟采购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B4769E-4129-4718-AD0D-F66FDF198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575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rPr>
              <a:t>卧室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F5371D-104E-4EAB-920F-A05E6CDBD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2575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rPr>
              <a:t>床垫压力 + 毫米波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614F3C-9828-4EE7-B44A-C382C09A0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257550"/>
            <a:ext cx="3714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rPr>
              <a:t>离床、睡眠、久静辅助判断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628443-F1BF-4D53-981C-DDE0586ED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2575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15C5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315C5A"/>
                </a:solidFill>
                <a:latin typeface="Microsoft YaHei UI"/>
                <a:ea typeface="Microsoft YaHei UI"/>
                <a:cs typeface="Microsoft YaHei UI"/>
              </a:rPr>
              <a:t>重点验证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CDA246-47E4-4281-81A8-4F920240F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76650"/>
            <a:ext cx="103441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0">
            <a:solidFill>
              <a:srgbClr val="FFF9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3EA8CB-2208-4992-A0DD-5B82486EF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719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rPr>
              <a:t>卫生间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208D39-A1F9-4042-A718-B4F210904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77190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rPr>
              <a:t>毫米波存在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A279C3-649D-442F-8FBE-25F3E38D5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771900"/>
            <a:ext cx="3714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rPr>
              <a:t>如厕停留、跌倒姿态、静止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0D08C2-8164-4EF1-A050-90D6DE6A1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77190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15C5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315C5A"/>
                </a:solidFill>
                <a:latin typeface="Microsoft YaHei UI"/>
                <a:ea typeface="Microsoft YaHei UI"/>
                <a:cs typeface="Microsoft YaHei UI"/>
              </a:rPr>
              <a:t>重点验证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C7EDBA-B72E-4476-A912-C53C41A08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862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rPr>
              <a:t>厨房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3F3553-12CE-4BC6-B069-B06790C7B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2862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rPr>
              <a:t>燃气 / 烟雾 / 用电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DAA7BE-EEC1-414D-ADFF-D4BAED534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286250"/>
            <a:ext cx="3714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rPr>
              <a:t>燃气烟雾与人在场联动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56ED557-9C64-4EB9-9A22-9042E1339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42862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15C5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315C5A"/>
                </a:solidFill>
                <a:latin typeface="Microsoft YaHei UI"/>
                <a:ea typeface="Microsoft YaHei UI"/>
                <a:cs typeface="Microsoft YaHei UI"/>
              </a:rPr>
              <a:t>成熟集成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6780E9D-0E50-48AF-80C2-35A452DB9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05350"/>
            <a:ext cx="103441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0">
            <a:solidFill>
              <a:srgbClr val="FFF9F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023E6E6-1A04-4264-9D8F-40EB55383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006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rPr>
              <a:t>餐桌 / 床头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9A9BFBA-319A-4ECF-BD04-2858B5730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80060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rPr>
              <a:t>药盒传感器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9EAFCC0-99A3-4176-8A9E-1A73F68CD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800600"/>
            <a:ext cx="3714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rPr>
              <a:t>服药提醒和家属确认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418CAAC-BA02-466B-81CA-5EF035AA2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480060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15C5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315C5A"/>
                </a:solidFill>
                <a:latin typeface="Microsoft YaHei UI"/>
                <a:ea typeface="Microsoft YaHei UI"/>
                <a:cs typeface="Microsoft YaHei UI"/>
              </a:rPr>
              <a:t>简单 PoC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F816BFE-5067-4883-8586-36B5D5FED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72150"/>
            <a:ext cx="819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rPr>
              <a:t>原则：不碰摄像头，不把可穿戴作为唯一依赖，用多源一致性降低误报。</a:t>
            </a:r>
          </a:p>
        </p:txBody>
      </p:sp>
    </p:spTree>
    <p:extLst>
      <p:ext uri="{BB962C8B-B14F-4D97-AF65-F5344CB8AC3E}">
        <p14:creationId xmlns:p14="http://schemas.microsoft.com/office/powerpoint/2010/main" val="175094236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423F01A-A5D0-456B-B244-07963ADA1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3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3B566B-6C54-4C69-AE42-7DBD1A5B2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6F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BEAD8C-7FAA-4092-A235-3C26B5DF1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86F4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86F4A"/>
                </a:solidFill>
                <a:latin typeface="Aptos"/>
                <a:ea typeface="Aptos"/>
                <a:cs typeface="Aptos"/>
              </a:rPr>
              <a:t>AI RISK ENGINE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0CAF4B-786E-4AFB-8FAD-F4AB2960F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9906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rPr>
              <a:t>先做可解释规则，再做个体化学习，最后再引入异常检测。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5B57FE-54B6-4ED2-9B0B-D72276DA1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914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16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68716B"/>
                </a:solidFill>
                <a:latin typeface="Microsoft YaHei UI"/>
                <a:ea typeface="Microsoft YaHei UI"/>
                <a:cs typeface="Microsoft YaHei UI"/>
              </a:rPr>
              <a:t>养老场景里，可信解释比“黑盒 AI 很强”更重要。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F4C541-B0C2-4E05-A233-843490765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2667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C817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C8175"/>
                </a:solidFill>
                <a:latin typeface="Aptos"/>
                <a:ea typeface="Aptos"/>
                <a:cs typeface="Aptos"/>
              </a:rPr>
              <a:t>CareTwin Home / 慧伴居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8674BB-AAAC-4721-926F-A54926D54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28850"/>
            <a:ext cx="247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DD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FB21F8-7A02-4C2D-B747-8883BE432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35267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rPr>
              <a:t>0-30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E2B24D-8627-45DE-90DF-5EFDAF15B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352675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rPr>
              <a:t>Normal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26AA71-1CDC-4DB2-8844-693353076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33700"/>
            <a:ext cx="247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2B8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E85255-AE12-4AB4-99DD-697274A26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575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rPr>
              <a:t>31-60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A77DF6-73C0-44F0-A9B7-FBAF86BDA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057525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rPr>
              <a:t>Attention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4FB34A-C566-4EA7-A728-C337FAAF2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247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C7A8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A53F3D-7AB1-4F7D-BF75-D36F5F176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6237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rPr>
              <a:t>61-80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9235F2-FEFE-4231-B949-DA4715C30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762375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rPr>
              <a:t>Warning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A7390E-AFF7-4776-A905-001741307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43400"/>
            <a:ext cx="247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7958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02A0C6-1436-4774-B0AB-4709B8D43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672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rPr>
              <a:t>81-100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DF24A1-D67A-40F7-BA03-AF7B5C2C2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467225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rPr>
              <a:t>High Risk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A2013A-0B79-4EC2-8473-890670BCE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209800"/>
            <a:ext cx="5429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D5C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2C2D28-8393-4F16-8368-23B83391E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400300"/>
            <a:ext cx="4648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rPr>
              <a:t>规则引擎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E41445-C0C5-4458-AA5C-0CA4D419F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686050"/>
            <a:ext cx="4648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8716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38" b="0">
                <a:solidFill>
                  <a:srgbClr val="68716B"/>
                </a:solidFill>
                <a:latin typeface="Microsoft YaHei UI"/>
                <a:ea typeface="Microsoft YaHei UI"/>
                <a:cs typeface="Microsoft YaHei UI"/>
              </a:rPr>
              <a:t>夜间滞留、开门、燃气、服药等明确风险先稳定覆盖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B1B80D-AC96-46B6-8CDC-A419116A4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333750"/>
            <a:ext cx="5429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D5C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A38E19-10C3-414C-A771-BEEFE6774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524250"/>
            <a:ext cx="4648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rPr>
              <a:t>个体基线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F710B3-B17B-4888-BBAF-242071330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810000"/>
            <a:ext cx="4648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8716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38" b="0">
                <a:solidFill>
                  <a:srgbClr val="68716B"/>
                </a:solidFill>
                <a:latin typeface="Microsoft YaHei UI"/>
                <a:ea typeface="Microsoft YaHei UI"/>
                <a:cs typeface="Microsoft YaHei UI"/>
              </a:rPr>
              <a:t>学习每位老人的作息、房间停留、夜间活动规律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30A94B-077C-4DEB-A508-D51267BBA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457700"/>
            <a:ext cx="5429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D5C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A4A9BF-E423-4954-8612-E763834CF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648200"/>
            <a:ext cx="4648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rPr>
              <a:t>异常检测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82B93C5-B92A-4C6F-97CB-67FFD2894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933950"/>
            <a:ext cx="4648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8716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38" b="0">
                <a:solidFill>
                  <a:srgbClr val="68716B"/>
                </a:solidFill>
                <a:latin typeface="Microsoft YaHei UI"/>
                <a:ea typeface="Microsoft YaHei UI"/>
                <a:cs typeface="Microsoft YaHei UI"/>
              </a:rPr>
              <a:t>用时间序列和行为序列识别“和平时不一样”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A65D706-28FE-4D30-99AE-533F2532F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495550"/>
            <a:ext cx="109537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DD"/>
          </a:solidFill>
          <a:ln xmlns:a="http://schemas.openxmlformats.org/drawingml/2006/main" w="9525">
            <a:solidFill>
              <a:srgbClr val="E0BE9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65C53A8-8612-42DC-AC79-E3A69EBF1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74320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86F4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C86F4A"/>
                </a:solidFill>
                <a:latin typeface="Microsoft YaHei UI"/>
                <a:ea typeface="Microsoft YaHei UI"/>
                <a:cs typeface="Microsoft YaHei UI"/>
              </a:rPr>
              <a:t>输出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3781F23-C7C3-4824-A33B-90992B0CC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00400"/>
            <a:ext cx="571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rPr>
              <a:t>分数</a:t>
            </a:r>
          </a:p>
          <a:p xmlns:a="http://schemas.openxmlformats.org/drawingml/2006/main">
            <a:pPr algn="ctr">
              <a:defRPr sz="1350" b="1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rPr>
              <a:t>等级</a:t>
            </a:r>
          </a:p>
          <a:p xmlns:a="http://schemas.openxmlformats.org/drawingml/2006/main">
            <a:pPr algn="ctr">
              <a:defRPr sz="1350" b="1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rPr>
              <a:t>场景</a:t>
            </a:r>
          </a:p>
          <a:p xmlns:a="http://schemas.openxmlformats.org/drawingml/2006/main">
            <a:pPr algn="ctr">
              <a:defRPr sz="1350" b="1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rPr>
              <a:t>解释</a:t>
            </a:r>
          </a:p>
          <a:p xmlns:a="http://schemas.openxmlformats.org/drawingml/2006/main">
            <a:pPr algn="ctr">
              <a:defRPr sz="1350" b="1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rPr>
              <a:t>动作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b872c4fb20485c">
            <a:extLst>
              <a:ext uri="{96DAC541-7B7A-43D3-8B79-37D633B846F1}">
                <asvg:svgBlip xmlns:asvg="http://schemas.microsoft.com/office/drawing/2016/SVG/main" r:embed="R5be0e35e505e4a5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572000" y="2400300"/>
            <a:ext cx="304800" cy="304800"/>
          </a:xfrm>
          <a:prstGeom xmlns:a="http://schemas.openxmlformats.org/drawingml/2006/main" prst="rect">
            <a:avLst/>
          </a:prstGeom>
        </p:spPr>
      </p:pic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50e67dc43a4cbd">
            <a:extLst>
              <a:ext uri="{96DAC541-7B7A-43D3-8B79-37D633B846F1}">
                <asvg:svgBlip xmlns:asvg="http://schemas.microsoft.com/office/drawing/2016/SVG/main" r:embed="R4bf4755bffd04da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572000" y="3524250"/>
            <a:ext cx="304800" cy="304800"/>
          </a:xfrm>
          <a:prstGeom xmlns:a="http://schemas.openxmlformats.org/drawingml/2006/main" prst="rect">
            <a:avLst/>
          </a:prstGeom>
        </p:spPr>
      </p:pic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fc9f2eeb5c4ce5">
            <a:extLst>
              <a:ext uri="{96DAC541-7B7A-43D3-8B79-37D633B846F1}">
                <asvg:svgBlip xmlns:asvg="http://schemas.microsoft.com/office/drawing/2016/SVG/main" r:embed="R8b55a4ace0c14da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572000" y="4648200"/>
            <a:ext cx="304800" cy="3048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12779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24ED985-49B2-4CF4-988B-0BAB74676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3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DED9F1-9511-49B8-BE0A-ADD3D4656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6F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3AECFB-D277-4435-8845-A5570910A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86F4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86F4A"/>
                </a:solidFill>
                <a:latin typeface="Aptos"/>
                <a:ea typeface="Aptos"/>
                <a:cs typeface="Aptos"/>
              </a:rPr>
              <a:t>PRODUCT SUITE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14CB54-5D82-4677-917C-775115E48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9906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rPr>
              <a:t>真正的产品不止一个网页，而是一套围绕告警处理的多端工作台。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6E934C-A135-44EC-8555-FCCA60B6F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914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16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68716B"/>
                </a:solidFill>
                <a:latin typeface="Microsoft YaHei UI"/>
                <a:ea typeface="Microsoft YaHei UI"/>
                <a:cs typeface="Microsoft YaHei UI"/>
              </a:rPr>
              <a:t>演示大屏负责讲故事，家属端和社区端负责真实运营闭环。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A6A4DD-574F-4F18-B1E8-2E89A6FD4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2667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C817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C8175"/>
                </a:solidFill>
                <a:latin typeface="Aptos"/>
                <a:ea typeface="Aptos"/>
                <a:cs typeface="Aptos"/>
              </a:rPr>
              <a:t>CareTwin Home / 慧伴居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4F54AF-8B5B-4D0F-A7E7-2E7FF6671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4762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5CF"/>
          </a:solidFill>
          <a:ln xmlns:a="http://schemas.openxmlformats.org/drawingml/2006/main" w="9525">
            <a:solidFill>
              <a:srgbClr val="E8D5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A018C0-64B2-446B-B466-6B74B4F21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36220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rPr>
              <a:t>家属端小程序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87582D-A83C-45A1-B948-576409A43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705100"/>
            <a:ext cx="3333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68716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88" b="0">
                <a:solidFill>
                  <a:srgbClr val="68716B"/>
                </a:solidFill>
                <a:latin typeface="Microsoft YaHei UI"/>
                <a:ea typeface="Microsoft YaHei UI"/>
                <a:cs typeface="Microsoft YaHei UI"/>
              </a:rPr>
              <a:t>收到风险解释</a:t>
            </a:r>
          </a:p>
          <a:p xmlns:a="http://schemas.openxmlformats.org/drawingml/2006/main">
            <a:pPr algn="l">
              <a:defRPr sz="1088" b="0">
                <a:solidFill>
                  <a:srgbClr val="68716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88" b="0">
                <a:solidFill>
                  <a:srgbClr val="68716B"/>
                </a:solidFill>
                <a:latin typeface="Microsoft YaHei UI"/>
                <a:ea typeface="Microsoft YaHei UI"/>
                <a:cs typeface="Microsoft YaHei UI"/>
              </a:rPr>
              <a:t>一键确认 / 拨打电话</a:t>
            </a:r>
          </a:p>
          <a:p xmlns:a="http://schemas.openxmlformats.org/drawingml/2006/main">
            <a:pPr algn="l">
              <a:defRPr sz="1088" b="0">
                <a:solidFill>
                  <a:srgbClr val="68716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88" b="0">
                <a:solidFill>
                  <a:srgbClr val="68716B"/>
                </a:solidFill>
                <a:latin typeface="Microsoft YaHei UI"/>
                <a:ea typeface="Microsoft YaHei UI"/>
                <a:cs typeface="Microsoft YaHei UI"/>
              </a:rPr>
              <a:t>查看历史趋势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184CB2-E3A6-43B8-A034-3E4E4B0D2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095500"/>
            <a:ext cx="4762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DD"/>
          </a:solidFill>
          <a:ln xmlns:a="http://schemas.openxmlformats.org/drawingml/2006/main" w="9525">
            <a:solidFill>
              <a:srgbClr val="E8D5C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4BB0BC-2868-4286-8920-5B6FCB169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236220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rPr>
              <a:t>社区照护后台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1F8D9E-676E-4EAD-BA78-9D9FC2604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2705100"/>
            <a:ext cx="3333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68716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88" b="0">
                <a:solidFill>
                  <a:srgbClr val="68716B"/>
                </a:solidFill>
                <a:latin typeface="Microsoft YaHei UI"/>
                <a:ea typeface="Microsoft YaHei UI"/>
                <a:cs typeface="Microsoft YaHei UI"/>
              </a:rPr>
              <a:t>高风险队列</a:t>
            </a:r>
          </a:p>
          <a:p xmlns:a="http://schemas.openxmlformats.org/drawingml/2006/main">
            <a:pPr algn="l">
              <a:defRPr sz="1088" b="0">
                <a:solidFill>
                  <a:srgbClr val="68716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88" b="0">
                <a:solidFill>
                  <a:srgbClr val="68716B"/>
                </a:solidFill>
                <a:latin typeface="Microsoft YaHei UI"/>
                <a:ea typeface="Microsoft YaHei UI"/>
                <a:cs typeface="Microsoft YaHei UI"/>
              </a:rPr>
              <a:t>派单 / 接单 / 回访</a:t>
            </a:r>
          </a:p>
          <a:p xmlns:a="http://schemas.openxmlformats.org/drawingml/2006/main">
            <a:pPr algn="l">
              <a:defRPr sz="1088" b="0">
                <a:solidFill>
                  <a:srgbClr val="68716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88" b="0">
                <a:solidFill>
                  <a:srgbClr val="68716B"/>
                </a:solidFill>
                <a:latin typeface="Microsoft YaHei UI"/>
                <a:ea typeface="Microsoft YaHei UI"/>
                <a:cs typeface="Microsoft YaHei UI"/>
              </a:rPr>
              <a:t>多老人状态总览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683BCD-F0A7-4EA9-9B91-972E8C7C6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0000"/>
            <a:ext cx="4762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D5C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A49641-3C29-4136-8A65-1436FE93B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07670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rPr>
              <a:t>安装运维端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04B013-F619-49EE-9943-E2EEED8D0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419600"/>
            <a:ext cx="3333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68716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88" b="0">
                <a:solidFill>
                  <a:srgbClr val="68716B"/>
                </a:solidFill>
                <a:latin typeface="Microsoft YaHei UI"/>
                <a:ea typeface="Microsoft YaHei UI"/>
                <a:cs typeface="Microsoft YaHei UI"/>
              </a:rPr>
              <a:t>房间建模</a:t>
            </a:r>
          </a:p>
          <a:p xmlns:a="http://schemas.openxmlformats.org/drawingml/2006/main">
            <a:pPr algn="l">
              <a:defRPr sz="1088" b="0">
                <a:solidFill>
                  <a:srgbClr val="68716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88" b="0">
                <a:solidFill>
                  <a:srgbClr val="68716B"/>
                </a:solidFill>
                <a:latin typeface="Microsoft YaHei UI"/>
                <a:ea typeface="Microsoft YaHei UI"/>
                <a:cs typeface="Microsoft YaHei UI"/>
              </a:rPr>
              <a:t>设备绑定 / 信号测试</a:t>
            </a:r>
          </a:p>
          <a:p xmlns:a="http://schemas.openxmlformats.org/drawingml/2006/main">
            <a:pPr algn="l">
              <a:defRPr sz="1088" b="0">
                <a:solidFill>
                  <a:srgbClr val="68716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88" b="0">
                <a:solidFill>
                  <a:srgbClr val="68716B"/>
                </a:solidFill>
                <a:latin typeface="Microsoft YaHei UI"/>
                <a:ea typeface="Microsoft YaHei UI"/>
                <a:cs typeface="Microsoft YaHei UI"/>
              </a:rPr>
              <a:t>离线与电池监控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62438D-C340-48EE-B14E-29C5D2901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3810000"/>
            <a:ext cx="4762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D5C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695F13-F061-41C4-94C4-8C1B3B179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407670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rPr>
              <a:t>演示大屏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C782B1-FEB7-4718-8A77-E112C3D4D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4419600"/>
            <a:ext cx="3333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68716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88" b="0">
                <a:solidFill>
                  <a:srgbClr val="68716B"/>
                </a:solidFill>
                <a:latin typeface="Microsoft YaHei UI"/>
                <a:ea typeface="Microsoft YaHei UI"/>
                <a:cs typeface="Microsoft YaHei UI"/>
              </a:rPr>
              <a:t>家庭数字孪生</a:t>
            </a:r>
          </a:p>
          <a:p xmlns:a="http://schemas.openxmlformats.org/drawingml/2006/main">
            <a:pPr algn="l">
              <a:defRPr sz="1088" b="0">
                <a:solidFill>
                  <a:srgbClr val="68716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88" b="0">
                <a:solidFill>
                  <a:srgbClr val="68716B"/>
                </a:solidFill>
                <a:latin typeface="Microsoft YaHei UI"/>
                <a:ea typeface="Microsoft YaHei UI"/>
                <a:cs typeface="Microsoft YaHei UI"/>
              </a:rPr>
              <a:t>事件流 / 风险分数</a:t>
            </a:r>
          </a:p>
          <a:p xmlns:a="http://schemas.openxmlformats.org/drawingml/2006/main">
            <a:pPr algn="l">
              <a:defRPr sz="1088" b="0">
                <a:solidFill>
                  <a:srgbClr val="68716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88" b="0">
                <a:solidFill>
                  <a:srgbClr val="68716B"/>
                </a:solidFill>
                <a:latin typeface="Microsoft YaHei UI"/>
                <a:ea typeface="Microsoft YaHei UI"/>
                <a:cs typeface="Microsoft YaHei UI"/>
              </a:rPr>
              <a:t>商业路演展示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97b11e2cf74afa">
            <a:extLst>
              <a:ext uri="{96DAC541-7B7A-43D3-8B79-37D633B846F1}">
                <asvg:svgBlip xmlns:asvg="http://schemas.microsoft.com/office/drawing/2016/SVG/main" r:embed="R3d56884b73b24b5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90600" y="2381250"/>
            <a:ext cx="400050" cy="400050"/>
          </a:xfrm>
          <a:prstGeom xmlns:a="http://schemas.openxmlformats.org/drawingml/2006/main" prst="rect">
            <a:avLst/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5ede56c6644d66">
            <a:extLst>
              <a:ext uri="{96DAC541-7B7A-43D3-8B79-37D633B846F1}">
                <asvg:svgBlip xmlns:asvg="http://schemas.microsoft.com/office/drawing/2016/SVG/main" r:embed="R97de9d817ea844e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276975" y="2381250"/>
            <a:ext cx="400050" cy="400050"/>
          </a:xfrm>
          <a:prstGeom xmlns:a="http://schemas.openxmlformats.org/drawingml/2006/main" prst="rect">
            <a:avLst/>
          </a:prstGeom>
        </p:spPr>
      </p:pic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6876c941eb40a3">
            <a:extLst>
              <a:ext uri="{96DAC541-7B7A-43D3-8B79-37D633B846F1}">
                <asvg:svgBlip xmlns:asvg="http://schemas.microsoft.com/office/drawing/2016/SVG/main" r:embed="Rcf04fe8b98624de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90600" y="4095750"/>
            <a:ext cx="400050" cy="400050"/>
          </a:xfrm>
          <a:prstGeom xmlns:a="http://schemas.openxmlformats.org/drawingml/2006/main" prst="rect">
            <a:avLst/>
          </a:prstGeom>
        </p:spPr>
      </p:pic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e1ce74f3fc4916">
            <a:extLst>
              <a:ext uri="{96DAC541-7B7A-43D3-8B79-37D633B846F1}">
                <asvg:svgBlip xmlns:asvg="http://schemas.microsoft.com/office/drawing/2016/SVG/main" r:embed="R4fb599c364fc4fd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276975" y="4095750"/>
            <a:ext cx="400050" cy="4000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1035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5D2FC81-6858-4CFF-8DC3-DB4262E35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3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4E3ED4-D65E-4F3D-964A-D60688CB4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6F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FE57AF-7E63-4B21-9A9A-D8B247416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86F4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86F4A"/>
                </a:solidFill>
                <a:latin typeface="Aptos"/>
                <a:ea typeface="Aptos"/>
                <a:cs typeface="Aptos"/>
              </a:rPr>
              <a:t>BUSINESS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C0AE27-50A3-4BFC-BE39-8995C98AA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9906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rPr>
              <a:t>商业化从“可验证试点”开始，再进入家庭订阅和机构部署。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B940B8-D7C1-408A-A838-5CF54F21F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914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16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68716B"/>
                </a:solidFill>
                <a:latin typeface="Microsoft YaHei UI"/>
                <a:ea typeface="Microsoft YaHei UI"/>
                <a:cs typeface="Microsoft YaHei UI"/>
              </a:rPr>
              <a:t>不先赌重硬件规模，而是先验证告警价值、误报率和照护流程。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F49E89-AC39-4AFD-87C4-CF5D9D94D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2667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C817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C8175"/>
                </a:solidFill>
                <a:latin typeface="Aptos"/>
                <a:ea typeface="Aptos"/>
                <a:cs typeface="Aptos"/>
              </a:rPr>
              <a:t>CareTwin Home / 慧伴居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F834B6-F091-4523-BAFC-397853A02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2333625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5CF"/>
          </a:solidFill>
          <a:ln xmlns:a="http://schemas.openxmlformats.org/drawingml/2006/main" w="9525">
            <a:solidFill>
              <a:srgbClr val="E8D5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426837-034D-45F2-B120-936009E04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76500"/>
            <a:ext cx="47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86F4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C86F4A"/>
                </a:solidFill>
                <a:latin typeface="Microsoft YaHei UI"/>
                <a:ea typeface="Microsoft YaHei UI"/>
                <a:cs typeface="Microsoft YaHei UI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9F401D-1BA4-4EB5-8CBE-4FE8D68E6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146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rPr>
              <a:t>试点包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B57F92-A8C0-4E70-8FE0-6D728BA8D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5280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16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68716B"/>
                </a:solidFill>
                <a:latin typeface="Microsoft YaHei UI"/>
                <a:ea typeface="Microsoft YaHei UI"/>
                <a:cs typeface="Microsoft YaHei UI"/>
              </a:rPr>
              <a:t>5-20 户家庭</a:t>
            </a:r>
          </a:p>
          <a:p xmlns:a="http://schemas.openxmlformats.org/drawingml/2006/main">
            <a:pPr algn="l">
              <a:defRPr sz="1125" b="0">
                <a:solidFill>
                  <a:srgbClr val="68716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68716B"/>
                </a:solidFill>
                <a:latin typeface="Microsoft YaHei UI"/>
                <a:ea typeface="Microsoft YaHei UI"/>
                <a:cs typeface="Microsoft YaHei UI"/>
              </a:rPr>
              <a:t>设备租赁 + 服务验证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494CDE-88DB-4107-8761-7E282A7C5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95750"/>
            <a:ext cx="1381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B65F"/>
          </a:solidFill>
          <a:ln xmlns:a="http://schemas.openxmlformats.org/drawingml/2006/main" w="9525">
            <a:solidFill>
              <a:srgbClr val="E6B6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83C1CE-053B-4A7C-86F7-14402C85A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62425"/>
            <a:ext cx="11144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rPr>
              <a:t>验证场景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08AA64-A99C-46EF-8402-B452FC069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409950"/>
            <a:ext cx="285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B65F"/>
          </a:solidFill>
          <a:ln xmlns:a="http://schemas.openxmlformats.org/drawingml/2006/main" w="0">
            <a:solidFill>
              <a:srgbClr val="E6B6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C5B5E3-ED6E-4B18-93C6-4A25BBAB2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266950"/>
            <a:ext cx="2333625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D5C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DB086F-FA18-4DE1-B32E-1F4127948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476500"/>
            <a:ext cx="47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86F4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C86F4A"/>
                </a:solidFill>
                <a:latin typeface="Microsoft YaHei UI"/>
                <a:ea typeface="Microsoft YaHei UI"/>
                <a:cs typeface="Microsoft YaHei UI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D4C11E-8E5C-4A69-A17D-482A5E2F9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9146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rPr>
              <a:t>家庭订阅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B73BC8-0270-4CF8-B308-3B55C2654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35280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16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68716B"/>
                </a:solidFill>
                <a:latin typeface="Microsoft YaHei UI"/>
                <a:ea typeface="Microsoft YaHei UI"/>
                <a:cs typeface="Microsoft YaHei UI"/>
              </a:rPr>
              <a:t>硬件套装 + 月度服务</a:t>
            </a:r>
          </a:p>
          <a:p xmlns:a="http://schemas.openxmlformats.org/drawingml/2006/main">
            <a:pPr algn="l">
              <a:defRPr sz="1125" b="0">
                <a:solidFill>
                  <a:srgbClr val="68716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68716B"/>
                </a:solidFill>
                <a:latin typeface="Microsoft YaHei UI"/>
                <a:ea typeface="Microsoft YaHei UI"/>
                <a:cs typeface="Microsoft YaHei UI"/>
              </a:rPr>
              <a:t>子女为安心付费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EADFB2-6E3E-4ACF-9813-4CB146F93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095750"/>
            <a:ext cx="1381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DD"/>
          </a:solidFill>
          <a:ln xmlns:a="http://schemas.openxmlformats.org/drawingml/2006/main" w="9525">
            <a:solidFill>
              <a:srgbClr val="D7E3D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1F69AE-955A-4709-8C55-343F80512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162425"/>
            <a:ext cx="11144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rPr>
              <a:t>稳定收入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607378-7EC8-415D-B993-41D24CEC5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409950"/>
            <a:ext cx="285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B65F"/>
          </a:solidFill>
          <a:ln xmlns:a="http://schemas.openxmlformats.org/drawingml/2006/main" w="0">
            <a:solidFill>
              <a:srgbClr val="E6B65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2E060F-CCE0-407A-935B-2A3282129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66950"/>
            <a:ext cx="2333625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D5C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7D0410-431F-4701-AE91-6F86330C0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476500"/>
            <a:ext cx="47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86F4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C86F4A"/>
                </a:solidFill>
                <a:latin typeface="Microsoft YaHei UI"/>
                <a:ea typeface="Microsoft YaHei UI"/>
                <a:cs typeface="Microsoft YaHei UI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2681E5-F587-4C1E-9047-6786C7BAE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146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rPr>
              <a:t>社区/机构采购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F348DB-BC55-4C8F-A273-AF1695040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35280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16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68716B"/>
                </a:solidFill>
                <a:latin typeface="Microsoft YaHei UI"/>
                <a:ea typeface="Microsoft YaHei UI"/>
                <a:cs typeface="Microsoft YaHei UI"/>
              </a:rPr>
              <a:t>多户管理后台</a:t>
            </a:r>
          </a:p>
          <a:p xmlns:a="http://schemas.openxmlformats.org/drawingml/2006/main">
            <a:pPr algn="l">
              <a:defRPr sz="1125" b="0">
                <a:solidFill>
                  <a:srgbClr val="68716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68716B"/>
                </a:solidFill>
                <a:latin typeface="Microsoft YaHei UI"/>
                <a:ea typeface="Microsoft YaHei UI"/>
                <a:cs typeface="Microsoft YaHei UI"/>
              </a:rPr>
              <a:t>派单与运营报表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F5F8CE-03B8-4BEA-A001-65BD99E12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095750"/>
            <a:ext cx="1381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DD"/>
          </a:solidFill>
          <a:ln xmlns:a="http://schemas.openxmlformats.org/drawingml/2006/main" w="9525">
            <a:solidFill>
              <a:srgbClr val="D7E3D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63F784-A2D6-4828-A51F-9B3C55B95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162425"/>
            <a:ext cx="11144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rPr>
              <a:t>规模部署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4B92B2-38A3-48E7-B321-AC1BB906E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409950"/>
            <a:ext cx="285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B65F"/>
          </a:solidFill>
          <a:ln xmlns:a="http://schemas.openxmlformats.org/drawingml/2006/main" w="0">
            <a:solidFill>
              <a:srgbClr val="E6B65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CEBE39E-6E72-4004-8EDB-97D78BF72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66950"/>
            <a:ext cx="2333625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D5C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90E5D4E-C5C6-4CD5-AAAA-D408FF152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476500"/>
            <a:ext cx="47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86F4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C86F4A"/>
                </a:solidFill>
                <a:latin typeface="Microsoft YaHei UI"/>
                <a:ea typeface="Microsoft YaHei UI"/>
                <a:cs typeface="Microsoft YaHei UI"/>
              </a:rPr>
              <a:t>04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48D6C8C-A974-4314-BF50-D9B701888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9146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rPr>
              <a:t>生态合作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7902133-70AD-42AC-96D5-94A050D07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35280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16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68716B"/>
                </a:solidFill>
                <a:latin typeface="Microsoft YaHei UI"/>
                <a:ea typeface="Microsoft YaHei UI"/>
                <a:cs typeface="Microsoft YaHei UI"/>
              </a:rPr>
              <a:t>物业 / 保险 / 养老平台</a:t>
            </a:r>
          </a:p>
          <a:p xmlns:a="http://schemas.openxmlformats.org/drawingml/2006/main">
            <a:pPr algn="l">
              <a:defRPr sz="1125" b="0">
                <a:solidFill>
                  <a:srgbClr val="68716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68716B"/>
                </a:solidFill>
                <a:latin typeface="Microsoft YaHei UI"/>
                <a:ea typeface="Microsoft YaHei UI"/>
                <a:cs typeface="Microsoft YaHei UI"/>
              </a:rPr>
              <a:t>联合服务入口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21CA8F9-21AC-44CC-BE39-4CA11D2AA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095750"/>
            <a:ext cx="1381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DD"/>
          </a:solidFill>
          <a:ln xmlns:a="http://schemas.openxmlformats.org/drawingml/2006/main" w="9525">
            <a:solidFill>
              <a:srgbClr val="D7E3D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A1CC7D1-94D1-486E-9C83-AA716CD85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162425"/>
            <a:ext cx="11144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rPr>
              <a:t>渠道扩张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9417C32-D9C2-4FE4-B881-36375ED83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34000"/>
            <a:ext cx="933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rPr>
              <a:t>早期核心指标：有效告警率、误报可解释率、家属确认率、社区处理时长、设备在线率。</a:t>
            </a:r>
          </a:p>
        </p:txBody>
      </p:sp>
    </p:spTree>
    <p:extLst>
      <p:ext uri="{BB962C8B-B14F-4D97-AF65-F5344CB8AC3E}">
        <p14:creationId xmlns:p14="http://schemas.microsoft.com/office/powerpoint/2010/main" val="41088929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DEB4DDB-C980-4E28-A543-118DF1B49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3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981892-4EE7-4EC8-A4FB-E4E961401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6F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915292-E951-44B6-A1F4-FAE5A259E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86F4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86F4A"/>
                </a:solidFill>
                <a:latin typeface="Aptos"/>
                <a:ea typeface="Aptos"/>
                <a:cs typeface="Aptos"/>
              </a:rPr>
              <a:t>ROADMAP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267E0A-2FEF-4258-8049-BBA1877A7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9906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rPr>
              <a:t>路线图要刻意避免过早硬件重投入：软件仿真先行，真实设备逐步接入。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B328C2-460B-471D-B0A9-18168CDC7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914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16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68716B"/>
                </a:solidFill>
                <a:latin typeface="Microsoft YaHei UI"/>
                <a:ea typeface="Microsoft YaHei UI"/>
                <a:cs typeface="Microsoft YaHei UI"/>
              </a:rPr>
              <a:t>每一阶段都服务一个明确的商业验证问题。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4AE25C-57B6-4C4D-9D7B-9CD5F1907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2667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C817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C8175"/>
                </a:solidFill>
                <a:latin typeface="Aptos"/>
                <a:ea typeface="Aptos"/>
                <a:cs typeface="Aptos"/>
              </a:rPr>
              <a:t>CareTwin Home / 慧伴居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EAA9BE-5507-4A3B-9E12-21CAA0111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86150"/>
            <a:ext cx="876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5C2"/>
          </a:solidFill>
          <a:ln xmlns:a="http://schemas.openxmlformats.org/drawingml/2006/main" w="0">
            <a:solidFill>
              <a:srgbClr val="E8D5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674638-630B-4F97-B047-D354602F3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3375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6F4A"/>
          </a:solidFill>
          <a:ln xmlns:a="http://schemas.openxmlformats.org/drawingml/2006/main" w="38100">
            <a:solidFill>
              <a:srgbClr val="FBF3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1BA9C1-1401-46A2-8496-FC07EBAC9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000500"/>
            <a:ext cx="20002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DD"/>
          </a:solidFill>
          <a:ln xmlns:a="http://schemas.openxmlformats.org/drawingml/2006/main" w="9525">
            <a:solidFill>
              <a:srgbClr val="E8D5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0446CB-1BB2-4168-B868-D9DDEFA67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9100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rPr>
              <a:t>A 当前演示系统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569B7E-A077-45A4-A2C1-7791C3892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14850"/>
            <a:ext cx="1619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8716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68716B"/>
                </a:solidFill>
                <a:latin typeface="Microsoft YaHei UI"/>
                <a:ea typeface="Microsoft YaHei UI"/>
                <a:cs typeface="Microsoft YaHei UI"/>
              </a:rPr>
              <a:t>证明故事、界面、场景闭环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8C0401-F9B0-4D15-BE4D-F23CEC476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7180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6F4A"/>
          </a:solidFill>
          <a:ln xmlns:a="http://schemas.openxmlformats.org/drawingml/2006/main" w="9525">
            <a:solidFill>
              <a:srgbClr val="C86F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689279-7448-47E7-B3CD-4EC74F845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38475"/>
            <a:ext cx="590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已完成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4DAE02-7BCA-4640-B3EE-DB95035AB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33375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B65F"/>
          </a:solidFill>
          <a:ln xmlns:a="http://schemas.openxmlformats.org/drawingml/2006/main" w="38100">
            <a:solidFill>
              <a:srgbClr val="FBF3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8F60EF-DADE-4F88-8BDE-AE75F0E1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00500"/>
            <a:ext cx="20002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D5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DB1557-16DE-4F4A-B2D7-DCA53350F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419100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rPr>
              <a:t>B 真实传感器 PoC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225C04-5D9D-4339-A2FF-09C38C5F1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4514850"/>
            <a:ext cx="1619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8716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68716B"/>
                </a:solidFill>
                <a:latin typeface="Microsoft YaHei UI"/>
                <a:ea typeface="Microsoft YaHei UI"/>
                <a:cs typeface="Microsoft YaHei UI"/>
              </a:rPr>
              <a:t>1 套家庭，接入门磁/毫米波/床垫/燃气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E050D6-24D4-4564-BDD0-C4D306373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97180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DD"/>
          </a:solidFill>
          <a:ln xmlns:a="http://schemas.openxmlformats.org/drawingml/2006/main" w="9525">
            <a:solidFill>
              <a:srgbClr val="D7E3D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3D0E10-7516-45AC-8185-B6555A285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3038475"/>
            <a:ext cx="590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rPr>
              <a:t>下一步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E0591D-3A20-4A08-A6F6-E70D96A39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3375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B65F"/>
          </a:solidFill>
          <a:ln xmlns:a="http://schemas.openxmlformats.org/drawingml/2006/main" w="38100">
            <a:solidFill>
              <a:srgbClr val="FBF3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A817EE-7AB3-4506-B7AB-CEE53FDCA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000500"/>
            <a:ext cx="20002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D5C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206997-C9AB-415A-933C-EC748E022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19100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rPr>
              <a:t>C 小规模试点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4C21EC-B3EA-41F6-9332-4C95B70C9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514850"/>
            <a:ext cx="1619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8716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68716B"/>
                </a:solidFill>
                <a:latin typeface="Microsoft YaHei UI"/>
                <a:ea typeface="Microsoft YaHei UI"/>
                <a:cs typeface="Microsoft YaHei UI"/>
              </a:rPr>
              <a:t>5-20 户家庭，验证误报率与家属接受度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0F81A6-A792-4F4E-AF3D-58144EF4A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7180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DD"/>
          </a:solidFill>
          <a:ln xmlns:a="http://schemas.openxmlformats.org/drawingml/2006/main" w="9525">
            <a:solidFill>
              <a:srgbClr val="D7E3D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F6891B-772B-49E9-AD28-D5DAF0AB5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038475"/>
            <a:ext cx="590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rPr>
              <a:t>试点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1C8CE5-A657-4133-9089-43F18DB13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33375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B65F"/>
          </a:solidFill>
          <a:ln xmlns:a="http://schemas.openxmlformats.org/drawingml/2006/main" w="38100">
            <a:solidFill>
              <a:srgbClr val="FBF3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FA8523-5E27-405C-81B5-07FD044C5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00500"/>
            <a:ext cx="20002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D5C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0AE945B-4FB8-4F58-B791-25F36EBDF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419100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rPr>
              <a:t>D 可售卖产品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4D4015-E8EC-466F-96BC-7F5B4A3AB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4514850"/>
            <a:ext cx="1619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8716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68716B"/>
                </a:solidFill>
                <a:latin typeface="Microsoft YaHei UI"/>
                <a:ea typeface="Microsoft YaHei UI"/>
                <a:cs typeface="Microsoft YaHei UI"/>
              </a:rPr>
              <a:t>标准硬件套装、服务手册、订阅/机构采购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625410A-3307-4C7A-A8AA-875841EFE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97180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DD"/>
          </a:solidFill>
          <a:ln xmlns:a="http://schemas.openxmlformats.org/drawingml/2006/main" w="9525">
            <a:solidFill>
              <a:srgbClr val="D7E3D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BE2EB69-139A-4AA9-88B8-380C497D2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038475"/>
            <a:ext cx="590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rPr>
              <a:t>商业化</a:t>
            </a:r>
          </a:p>
        </p:txBody>
      </p:sp>
    </p:spTree>
    <p:extLst>
      <p:ext uri="{BB962C8B-B14F-4D97-AF65-F5344CB8AC3E}">
        <p14:creationId xmlns:p14="http://schemas.microsoft.com/office/powerpoint/2010/main" val="67292475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1D21DE-291E-4957-B315-2999CE1C1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3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9629D4-E288-4045-9D9B-F796E1E13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6F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016642-0151-4922-B215-4BB403FA4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86F4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86F4A"/>
                </a:solidFill>
                <a:latin typeface="Aptos"/>
                <a:ea typeface="Aptos"/>
                <a:cs typeface="Aptos"/>
              </a:rPr>
              <a:t>NEXT ASK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1EF022-F2EB-4C4A-8265-79870848E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9906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rPr>
              <a:t>接下来的任务是把“好看的 demo”推进为“可验证的公司产品”。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75815E-B7DB-4CD1-9A07-9319DF212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914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16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68716B"/>
                </a:solidFill>
                <a:latin typeface="Microsoft YaHei UI"/>
                <a:ea typeface="Microsoft YaHei UI"/>
                <a:cs typeface="Microsoft YaHei UI"/>
              </a:rPr>
              <a:t>队伍内部展示后，最重要的是锁定试点、设备和照护流程。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0F1FFA-ADBF-49B0-938D-9D78941B4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2667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C817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C8175"/>
                </a:solidFill>
                <a:latin typeface="Aptos"/>
                <a:ea typeface="Aptos"/>
                <a:cs typeface="Aptos"/>
              </a:rPr>
              <a:t>CareTwin Home / 慧伴居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BE53D1-5934-4864-896D-D3FAE8A76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4762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5CF"/>
          </a:solidFill>
          <a:ln xmlns:a="http://schemas.openxmlformats.org/drawingml/2006/main" w="9525">
            <a:solidFill>
              <a:srgbClr val="E8D5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FEBA6F-0619-4265-80F7-3EF3B8CD1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36220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rPr>
              <a:t>试点家庭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2BD738-1CA7-4958-BE39-FAED224E0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05100"/>
            <a:ext cx="3476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68716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88" b="0">
                <a:solidFill>
                  <a:srgbClr val="68716B"/>
                </a:solidFill>
                <a:latin typeface="Microsoft YaHei UI"/>
                <a:ea typeface="Microsoft YaHei UI"/>
                <a:cs typeface="Microsoft YaHei UI"/>
              </a:rPr>
              <a:t>寻找 1-3 个可控场景，用真实房间和真实作息验证传感器事件。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FEF12E-1AB6-4C18-A80C-68CE8542B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095500"/>
            <a:ext cx="4762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D5C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1A95B0-91C8-4051-9A50-6590EF555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36220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rPr>
              <a:t>传感器伙伴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BB79D0-13EF-4292-B00B-72B64F30B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705100"/>
            <a:ext cx="3476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68716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88" b="0">
                <a:solidFill>
                  <a:srgbClr val="68716B"/>
                </a:solidFill>
                <a:latin typeface="Microsoft YaHei UI"/>
                <a:ea typeface="Microsoft YaHei UI"/>
                <a:cs typeface="Microsoft YaHei UI"/>
              </a:rPr>
              <a:t>确定门磁、毫米波、床垫压力和燃气烟雾设备的采购与接入路径。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0F9703-E0CB-4FE2-BA1A-F1A6F7CD8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71900"/>
            <a:ext cx="4762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D5C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99D9B9-7047-45E1-94EC-F15A5E580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03860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rPr>
              <a:t>照护流程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0C9DF6-5E52-423F-8B3B-3C290E1AC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381500"/>
            <a:ext cx="3476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68716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88" b="0">
                <a:solidFill>
                  <a:srgbClr val="68716B"/>
                </a:solidFill>
                <a:latin typeface="Microsoft YaHei UI"/>
                <a:ea typeface="Microsoft YaHei UI"/>
                <a:cs typeface="Microsoft YaHei UI"/>
              </a:rPr>
              <a:t>定义家属未响应、高风险升级、社区派单和事件关闭标准。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9A7E1C-BBDE-4ED0-AFE0-47C1F328A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3771900"/>
            <a:ext cx="4762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D5C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EB57A9-C565-4DB1-9D70-F5E721CC7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03860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20302E"/>
                </a:solidFill>
                <a:latin typeface="Microsoft YaHei UI"/>
                <a:ea typeface="Microsoft YaHei UI"/>
                <a:cs typeface="Microsoft YaHei UI"/>
              </a:rPr>
              <a:t>商业材料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03483A-9E1B-4DC5-A728-D66F38914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381500"/>
            <a:ext cx="3476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68716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88" b="0">
                <a:solidFill>
                  <a:srgbClr val="68716B"/>
                </a:solidFill>
                <a:latin typeface="Microsoft YaHei UI"/>
                <a:ea typeface="Microsoft YaHei UI"/>
                <a:cs typeface="Microsoft YaHei UI"/>
              </a:rPr>
              <a:t>把系统方案、PPT、演示网页和试点计划整合成对外路演包。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508B11-1215-435E-997E-4369709A9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638800"/>
            <a:ext cx="8191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523"/>
          </a:solidFill>
          <a:ln xmlns:a="http://schemas.openxmlformats.org/drawingml/2006/main" w="9525">
            <a:solidFill>
              <a:srgbClr val="14252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AD86E4-4ACC-4F79-8A37-9CC56A8BB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800725"/>
            <a:ext cx="7620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一句话结论：慧伴居把“无人知道的居家风险”变成“可解释、可升级、可运营的照护响应”。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ef01f9185c43a6">
            <a:extLst>
              <a:ext uri="{96DAC541-7B7A-43D3-8B79-37D633B846F1}">
                <asvg:svgBlip xmlns:asvg="http://schemas.microsoft.com/office/drawing/2016/SVG/main" r:embed="R0096de564c064f4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66800" y="2390775"/>
            <a:ext cx="361950" cy="361950"/>
          </a:xfrm>
          <a:prstGeom xmlns:a="http://schemas.openxmlformats.org/drawingml/2006/main" prst="rect">
            <a:avLst/>
          </a:prstGeom>
        </p:spPr>
      </p:pic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ac3384cb154d2f">
            <a:extLst>
              <a:ext uri="{96DAC541-7B7A-43D3-8B79-37D633B846F1}">
                <asvg:svgBlip xmlns:asvg="http://schemas.microsoft.com/office/drawing/2016/SVG/main" r:embed="R7c9682f8a4d1437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53175" y="2390775"/>
            <a:ext cx="361950" cy="361950"/>
          </a:xfrm>
          <a:prstGeom xmlns:a="http://schemas.openxmlformats.org/drawingml/2006/main" prst="rect">
            <a:avLst/>
          </a:prstGeom>
        </p:spPr>
      </p:pic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5246e21cb748e2">
            <a:extLst>
              <a:ext uri="{96DAC541-7B7A-43D3-8B79-37D633B846F1}">
                <asvg:svgBlip xmlns:asvg="http://schemas.microsoft.com/office/drawing/2016/SVG/main" r:embed="R2d4837c48ac2443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66800" y="4067175"/>
            <a:ext cx="361950" cy="361950"/>
          </a:xfrm>
          <a:prstGeom xmlns:a="http://schemas.openxmlformats.org/drawingml/2006/main" prst="rect">
            <a:avLst/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9d5cd8a7604094">
            <a:extLst>
              <a:ext uri="{96DAC541-7B7A-43D3-8B79-37D633B846F1}">
                <asvg:svgBlip xmlns:asvg="http://schemas.microsoft.com/office/drawing/2016/SVG/main" r:embed="Reed10d202b6842e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53175" y="4067175"/>
            <a:ext cx="361950" cy="3619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62702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2026-05-09T09:55:31.5310000Z</dcterms:created>
  <dcterms:modified xsi:type="dcterms:W3CDTF">2026-05-09T09:55:31.5310000Z</dcterms:modified>
</coreProperties>
</file>